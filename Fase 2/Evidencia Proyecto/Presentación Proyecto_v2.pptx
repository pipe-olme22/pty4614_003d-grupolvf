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Urbanis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.fntdata"/><Relationship Id="rId11" Type="http://schemas.openxmlformats.org/officeDocument/2006/relationships/slide" Target="slides/slide6.xml"/><Relationship Id="rId22" Type="http://schemas.openxmlformats.org/officeDocument/2006/relationships/font" Target="fonts/Urbanist-boldItalic.fntdata"/><Relationship Id="rId10" Type="http://schemas.openxmlformats.org/officeDocument/2006/relationships/slide" Target="slides/slide5.xml"/><Relationship Id="rId21" Type="http://schemas.openxmlformats.org/officeDocument/2006/relationships/font" Target="fonts/Urbanis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2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26.png"/><Relationship Id="rId6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27.png"/><Relationship Id="rId5" Type="http://schemas.openxmlformats.org/officeDocument/2006/relationships/hyperlink" Target="http://162.240.153.93/workflow/UshVsKMQGHh8P5I2" TargetMode="External"/><Relationship Id="rId6" Type="http://schemas.openxmlformats.org/officeDocument/2006/relationships/hyperlink" Target="https://hogarsanlucianoo.com/" TargetMode="External"/><Relationship Id="rId7" Type="http://schemas.openxmlformats.org/officeDocument/2006/relationships/image" Target="../media/image21.png"/><Relationship Id="rId8" Type="http://schemas.openxmlformats.org/officeDocument/2006/relationships/hyperlink" Target="http://162.240.153.93/workflow/UshVsKMQGHh8P5I2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562248"/>
            <a:ext cx="11601450" cy="2262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Avance Fase 2: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Modernización Digital Residencia San Luciano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053631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PROYECTO INFORMÁTICO | EMPRESA: AUTOMATIZA PRO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80030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VICENTE SÁNCHEZ - FELIPE OLMEDO - LUCAS RAMIREZ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666750" y="1504950"/>
            <a:ext cx="5238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01 Descripción del proyecto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71500" y="1504950"/>
            <a:ext cx="28575" cy="36567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66750" y="2061120"/>
            <a:ext cx="5238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02 Fundamentación del proyecto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2061120"/>
            <a:ext cx="28575" cy="36567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66750" y="2617291"/>
            <a:ext cx="5238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03 Objetivos y Metodología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2617291"/>
            <a:ext cx="28575" cy="36567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381750" y="1504950"/>
            <a:ext cx="5238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04 Evidencias (Fase 2)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6286500" y="1504950"/>
            <a:ext cx="28575" cy="36567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381750" y="2061120"/>
            <a:ext cx="5238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05 Plan de Trabajo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6286500" y="2061120"/>
            <a:ext cx="28575" cy="36567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6381750" y="2617291"/>
            <a:ext cx="5238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06 Demostración y Siguientes Pasos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6286500" y="2617291"/>
            <a:ext cx="28575" cy="36567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Índice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14550"/>
            <a:ext cx="3492549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14550"/>
            <a:ext cx="3492549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14550"/>
            <a:ext cx="3492549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94225" y="315277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Proyecto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66775" y="3667125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Modernización Digital de la Residencia San Luciano. Desarrollar aplicaciones web, modelar BBDD, y aplicar IA para análisis preventivo.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572524" y="315277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Área de Desempeño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45074" y="3667125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Gestión de Proyectos Tecnológicos.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350824" y="315277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Competencias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23374" y="3667125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Desarrollo de Software, Gestión de Datos, IA y Análisis de Datos.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31950" y="244792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4479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17124" y="244792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01. Descripción del Proyecto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5334000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04950"/>
            <a:ext cx="5334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866775" y="1800225"/>
            <a:ext cx="49806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Problemática Actual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866775" y="2219325"/>
            <a:ext cx="4743450" cy="190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866775" y="2428875"/>
            <a:ext cx="4743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Gestión manual en papel que resulta en duplicación y pérdida de información. Esto genera retrasos en la comunicación con familiares y una sobrecarga administrativa para el personal de salud (TENS, cuidadores).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581775" y="1800225"/>
            <a:ext cx="49806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Impacto Esperado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6581775" y="2219325"/>
            <a:ext cx="4743450" cy="190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6581775" y="2428875"/>
            <a:ext cx="4743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Digitalización para reducir la carga administrativa del personal, dar a los familiares acceso a información confiable y en tiempo real, y garantizar a los residentes un seguimiento preciso, preventivo y personalizado.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02. Fundamentación del Proyecto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5260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71500" y="227647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Objetivo General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27908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Desarrollar un proyecto que integre soluciones tecnológicas para mejorar la gestión de información y optimizar procesos relacionados con el área de estudio.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389572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Metodología Ágil (Scrum)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44100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Proyecto se desarrolla utilizando Scrum, organizando el trabajo en Sprints cortos para entregar resultados iterativos, permitiendo una rápida adaptación a los cambios.</a:t>
            </a:r>
            <a:endParaRPr/>
          </a:p>
        </p:txBody>
      </p:sp>
      <p:pic>
        <p:nvPicPr>
          <p:cNvPr descr="image.png" id="148" name="Google Shape;14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5260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03. Objetivos y Metodología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295275" y="249168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04. Evidencias: Fase 2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3672780"/>
            <a:ext cx="85725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Desarrollo técnico de la plataforma (Backend, Frontend, Base de Datos).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3888" y="2238375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2209800"/>
            <a:ext cx="34924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168100" y="4743450"/>
            <a:ext cx="349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Desarrollo de la interfaz de usuario con React, mostrando la estructura de componentes (VS Code).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226238" y="4835825"/>
            <a:ext cx="349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Vista de 'Iniciar Sesión', la puerta de entrada al sistema con validación de credenciales.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4103650" y="4835825"/>
            <a:ext cx="3492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punto de acceso público antes de la autenticación.</a:t>
            </a:r>
            <a:endParaRPr/>
          </a:p>
        </p:txBody>
      </p:sp>
      <p:pic>
        <p:nvPicPr>
          <p:cNvPr descr="image.png" id="167" name="Google Shape;167;p19"/>
          <p:cNvPicPr preferRelativeResize="0"/>
          <p:nvPr/>
        </p:nvPicPr>
        <p:blipFill rotWithShape="1">
          <a:blip r:embed="rId6">
            <a:alphaModFix/>
          </a:blip>
          <a:srcRect b="39912" l="49562" r="32124" t="19181"/>
          <a:stretch/>
        </p:blipFill>
        <p:spPr>
          <a:xfrm>
            <a:off x="674300" y="2461950"/>
            <a:ext cx="1141900" cy="173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Evidencia: Frontend (React)</a:t>
            </a:r>
            <a:endParaRPr/>
          </a:p>
        </p:txBody>
      </p:sp>
      <p:pic>
        <p:nvPicPr>
          <p:cNvPr id="169" name="Google Shape;169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32987" y="2019962"/>
            <a:ext cx="3879124" cy="26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98075" y="2036900"/>
            <a:ext cx="4058351" cy="26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47850"/>
            <a:ext cx="538162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847850"/>
            <a:ext cx="53816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571500" y="5334000"/>
            <a:ext cx="5381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Flujo de 'Registro de Usuario' en n8n: Recibe datos del frontend, asigna roles, encripta contraseña y guarda en BBDD.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6238875" y="5334000"/>
            <a:ext cx="5381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Flujo de 'Inicio de Sesión' en n8n: Valida email, compara hash de contraseña (SHA-256) y genera un Token JWT para la sesión.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Evidencia: Backend (n8n)</a:t>
            </a:r>
            <a:endParaRPr/>
          </a:p>
        </p:txBody>
      </p:sp>
      <p:pic>
        <p:nvPicPr>
          <p:cNvPr id="181" name="Google Shape;18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1847850"/>
            <a:ext cx="5381626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38875" y="1847850"/>
            <a:ext cx="5381625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3405150" y="5225700"/>
            <a:ext cx="538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Implementación de Hashing (SHA-256). Las contraseñas ahora se almacenan encriptadas (hash), asegurando la data.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Evidencia: Base de Datos y Seguridad</a:t>
            </a:r>
            <a:endParaRPr/>
          </a:p>
        </p:txBody>
      </p:sp>
      <p:pic>
        <p:nvPicPr>
          <p:cNvPr id="190" name="Google Shape;19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7413" y="1409900"/>
            <a:ext cx="10417163" cy="364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1809750" y="1271587"/>
            <a:ext cx="90011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Fase 1 (Completada)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1809750" y="2690812"/>
            <a:ext cx="90011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Fase 2 (En Progreso)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1809750" y="4605337"/>
            <a:ext cx="90011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Fase 3 (Próximamente)</a:t>
            </a:r>
            <a:endParaRPr/>
          </a:p>
        </p:txBody>
      </p:sp>
      <p:pic>
        <p:nvPicPr>
          <p:cNvPr descr="image.png" id="199" name="Google Shape;19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1290637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2190750" y="1700212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Levantamiento de requerimientos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2190750" y="2195512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Definición de alcance y planificación ágil (Scrum)</a:t>
            </a:r>
            <a:endParaRPr/>
          </a:p>
        </p:txBody>
      </p:sp>
      <p:pic>
        <p:nvPicPr>
          <p:cNvPr descr="image.png" id="202" name="Google Shape;20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270986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2190750" y="3119437"/>
            <a:ext cx="8191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Diseño de base de datos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 progreso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2190750" y="3614737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Desarrollo de backend (API y lógica de negocio)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(Completado)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2190750" y="4110037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Desarrollo de frontend (interfaz web/móvil)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(En progreso)</a:t>
            </a:r>
            <a:endParaRPr/>
          </a:p>
        </p:txBody>
      </p:sp>
      <p:pic>
        <p:nvPicPr>
          <p:cNvPr descr="image.png" id="206" name="Google Shape;20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624387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2190750" y="5033962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Implementación de modelo IA predictivo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2190750" y="5529262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Pruebas de funcionalidad, seguridad y usabilidad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2190750" y="6024562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Documentación técnica y manual de usuario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571500" y="338137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05. Plan de Trabajo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 txBox="1"/>
          <p:nvPr/>
        </p:nvSpPr>
        <p:spPr>
          <a:xfrm>
            <a:off x="295275" y="249168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Demostración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571500" y="3672780"/>
            <a:ext cx="85725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Flujo de Autenticación por Roles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0250" y="326514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0250" y="483468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2000250" y="3890962"/>
            <a:ext cx="8191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2000250" y="5460503"/>
            <a:ext cx="8191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6" name="Google Shape;22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0250" y="326514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4"/>
          <p:cNvSpPr txBox="1"/>
          <p:nvPr/>
        </p:nvSpPr>
        <p:spPr>
          <a:xfrm>
            <a:off x="3095625" y="3504307"/>
            <a:ext cx="709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hlink"/>
                </a:solidFill>
                <a:hlinkClick r:id="rId5"/>
              </a:rPr>
              <a:t>▶️</a:t>
            </a: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00" u="sng">
                <a:solidFill>
                  <a:schemeClr val="hlink"/>
                </a:solidFill>
                <a:hlinkClick r:id="rId6"/>
              </a:rPr>
              <a:t>CRM Residencia</a:t>
            </a:r>
            <a:endParaRPr/>
          </a:p>
        </p:txBody>
      </p:sp>
      <p:pic>
        <p:nvPicPr>
          <p:cNvPr descr="image.png" id="228" name="Google Shape;22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00250" y="483468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 txBox="1"/>
          <p:nvPr/>
        </p:nvSpPr>
        <p:spPr>
          <a:xfrm>
            <a:off x="3095625" y="5073848"/>
            <a:ext cx="709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00" u="sng">
                <a:solidFill>
                  <a:schemeClr val="hlink"/>
                </a:solidFill>
                <a:hlinkClick r:id="rId8"/>
              </a:rPr>
              <a:t>▶️ CRM-Residencia - n8n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Rutas de acceso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 txBox="1"/>
          <p:nvPr/>
        </p:nvSpPr>
        <p:spPr>
          <a:xfrm>
            <a:off x="295275" y="256029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¡GRACIAS POR LA ATENCIÓN!</a:t>
            </a:r>
            <a:endParaRPr/>
          </a:p>
        </p:txBody>
      </p:sp>
      <p:sp>
        <p:nvSpPr>
          <p:cNvPr id="237" name="Google Shape;237;p25"/>
          <p:cNvSpPr txBox="1"/>
          <p:nvPr/>
        </p:nvSpPr>
        <p:spPr>
          <a:xfrm>
            <a:off x="571500" y="370329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Quedamos atentos a sus preguntas.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