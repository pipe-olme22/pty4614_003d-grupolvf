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lus Jakarta Sans"/>
      <p:regular r:id="rId21"/>
      <p:bold r:id="rId22"/>
      <p:italic r:id="rId23"/>
      <p:boldItalic r:id="rId24"/>
    </p:embeddedFont>
    <p:embeddedFont>
      <p:font typeface="Outfit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-bold.fntdata"/><Relationship Id="rId25" Type="http://schemas.openxmlformats.org/officeDocument/2006/relationships/font" Target="fonts/Outfi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7dd8d9317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7dd8d931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7dd8d9317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7dd8d931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7dd8d9317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7dd8d931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7dd8d9317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7dd8d931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7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7.png"/><Relationship Id="rId5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446907"/>
            <a:ext cx="1160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PROYECTO INFORMÁTICO | AUTOMATIZA PRO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875532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Modernización Digital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 Residencia San Luciano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" y="3502223"/>
            <a:ext cx="952500" cy="57150"/>
          </a:xfrm>
          <a:prstGeom prst="roundRect">
            <a:avLst>
              <a:gd fmla="val 16667" name="adj"/>
            </a:avLst>
          </a:prstGeom>
          <a:solidFill>
            <a:srgbClr val="00A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073723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Informe Final: Implementación y Cierre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106144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Vicente Sánchez • Felipe Olmedo • Lucas Ramirez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24125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524125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76625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66388" t="0"/>
          <a:stretch/>
        </p:blipFill>
        <p:spPr>
          <a:xfrm>
            <a:off x="6310850" y="3476625"/>
            <a:ext cx="19127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29125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0" y="4429125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Índice del Informe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6400800"/>
            <a:ext cx="1457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Residencia San Luciano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677525" y="6400800"/>
            <a:ext cx="942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62000" y="2714625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2714625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381750" y="2714625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381750" y="2714625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62000" y="3667125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62000" y="3667125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6381750" y="3667125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381750" y="3667125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762000" y="4619625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762000" y="4619625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6381750" y="4619625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381750" y="4619625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44693" r="0" t="0"/>
          <a:stretch/>
        </p:blipFill>
        <p:spPr>
          <a:xfrm>
            <a:off x="8223625" y="3476625"/>
            <a:ext cx="33968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62237"/>
            <a:ext cx="538162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662237"/>
            <a:ext cx="538162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Contexto del Proyecto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64008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Descripción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677525" y="6400800"/>
            <a:ext cx="942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04875" y="2947987"/>
            <a:ext cx="5000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Definición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04875" y="3471862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Modernización Digital de la Residencia San Luciano. Desarrollo de aplicaciones web, modelado de BBDD, y aplicación de IA para análisis preventivo.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572250" y="2947987"/>
            <a:ext cx="5000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Área de Desempeño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72250" y="3471862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Proyectos Tecnológicos.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572250" y="396716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Competencias: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Desarrollo de Software, Gestión de Datos, IA y Análisis.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298608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2986087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0"/>
            <a:ext cx="48768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28750"/>
            <a:ext cx="5286375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87834"/>
            <a:ext cx="5286375" cy="236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37570"/>
            <a:ext cx="5286375" cy="2089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Descripción y Problemática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6400800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Fundamentación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677525" y="6400800"/>
            <a:ext cx="942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1428750"/>
            <a:ext cx="5286375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04875" y="1773584"/>
            <a:ext cx="49006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rPr>
              <a:t>Problemática Actual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04875" y="2278409"/>
            <a:ext cx="46672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manual en papel que resulta en duplicación y pérdida de información. Retrasos en comunicación con familiares y sobrecarga administrativa para TENS y cuidadores.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04875" y="4423320"/>
            <a:ext cx="49006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Outfit"/>
                <a:ea typeface="Outfit"/>
                <a:cs typeface="Outfit"/>
                <a:sym typeface="Outfit"/>
              </a:rPr>
              <a:t>Impacto Esperado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04875" y="4928145"/>
            <a:ext cx="4667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Digitalización para reducir carga administrativa, acceso a información en tiempo real para familiares y seguimiento preventivo personalizado.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28750"/>
            <a:ext cx="5286375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Objetivos y Metodología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64008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Metodología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677525" y="6400800"/>
            <a:ext cx="942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28750"/>
            <a:ext cx="5286375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334125" y="213360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Objetivo General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334125" y="26574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Desarrollar un proyecto que integre soluciones tecnológicas para mejorar la gestión de información y optimizar procesos relacionados con el área de estudio.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334125" y="395287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Metodología Ágil (Scrum)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334125" y="44767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proyecto se desarrolla utilizando Scrum, organizando el trabajo en Sprints cortos para entregar resultados iterativos y permitir rápida adaptación.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433637"/>
            <a:ext cx="5286375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6096000" y="0"/>
            <a:ext cx="6096000" cy="6858000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Estado Final del Proyecto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64008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Evidencias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677525" y="6400800"/>
            <a:ext cx="942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2023169"/>
            <a:ext cx="5550693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¡Proyecto Finalizado!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3554610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6B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Todos los objetivos han sido cumplidos.</a:t>
            </a:r>
            <a:endParaRPr/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0" y="2719387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6550818" y="3671887"/>
            <a:ext cx="49006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Fase 3 Completada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667500" y="4195762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sistema ha pasado todas las pruebas de funcionalidad, seguridad y usabilidad.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42975" y="4206031"/>
            <a:ext cx="491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Digitalización 100% Operativ</a:t>
            </a:r>
            <a:r>
              <a:rPr lang="en-US" sz="15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42975" y="4638390"/>
            <a:ext cx="491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Acceso Web para Familiares</a:t>
            </a:r>
            <a:r>
              <a:rPr lang="en-US" sz="15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Tiempo real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42975" y="5087534"/>
            <a:ext cx="491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de Datos Segura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413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764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2563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942963" y="5504417"/>
            <a:ext cx="491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Preventivo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488" y="550561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942963" y="5897852"/>
            <a:ext cx="491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Optimización</a:t>
            </a:r>
            <a:r>
              <a:rPr lang="en-US" sz="15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Administrativa</a:t>
            </a:r>
            <a:endParaRPr/>
          </a:p>
        </p:txBody>
      </p:sp>
      <p:pic>
        <p:nvPicPr>
          <p:cNvPr descr="imag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6663" y="589656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24112"/>
            <a:ext cx="34924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424112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424112"/>
            <a:ext cx="34924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Arquitectura y Tecnologías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71500" y="6400800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y </a:t>
            </a: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Tecnologías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0677525" y="6400800"/>
            <a:ext cx="942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3387" y="27098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833043" y="3376612"/>
            <a:ext cx="301693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Frontend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04875" y="3900487"/>
            <a:ext cx="28732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Interfaz desarrollada en React. Estructura de componentes modular y responsiva.</a:t>
            </a:r>
            <a:endParaRPr/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2963" y="2709862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4611190" y="3376612"/>
            <a:ext cx="30170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Backend &amp; Flujo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4683025" y="3900487"/>
            <a:ext cx="28734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Automatización con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n8n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Gestión de lógica de negocio y APIs.</a:t>
            </a:r>
            <a:endParaRPr/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8413" y="270986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8389493" y="3376612"/>
            <a:ext cx="301693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Seguridad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461325" y="3900487"/>
            <a:ext cx="28732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Hashing SHA-256 para contraseñas y Tokens JWT para sesiones.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Ambiente Alojado en nube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71500" y="6400800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y Tecnologías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0677525" y="6400800"/>
            <a:ext cx="94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pic>
        <p:nvPicPr>
          <p:cNvPr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34357"/>
          <a:stretch/>
        </p:blipFill>
        <p:spPr>
          <a:xfrm>
            <a:off x="522375" y="2450725"/>
            <a:ext cx="3088100" cy="86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4226606"/>
            <a:ext cx="3088101" cy="123524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343650" y="2663156"/>
            <a:ext cx="491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Multiples Beneficios</a:t>
            </a:r>
            <a:endParaRPr/>
          </a:p>
        </p:txBody>
      </p:sp>
      <p:pic>
        <p:nvPicPr>
          <p:cNvPr descr="image.png" id="220" name="Google Shape;2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2175" y="27012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4307125" y="4710881"/>
            <a:ext cx="491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Multiples Beneficios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5650" y="4748981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Diagrama Relacional BD</a:t>
            </a:r>
            <a:endParaRPr/>
          </a:p>
        </p:txBody>
      </p:sp>
      <p:pic>
        <p:nvPicPr>
          <p:cNvPr id="228" name="Google Shape;2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825" y="1188300"/>
            <a:ext cx="7506963" cy="54276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71500" y="6400800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Diagrama Relacional BD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0677525" y="6400800"/>
            <a:ext cx="94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Diagrama Caso de Usos</a:t>
            </a:r>
            <a:endParaRPr/>
          </a:p>
        </p:txBody>
      </p:sp>
      <p:pic>
        <p:nvPicPr>
          <p:cNvPr id="236" name="Google Shape;236;p22" title="Casos de u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025" y="1185275"/>
            <a:ext cx="4632541" cy="5427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571500" y="6400800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</a:t>
            </a: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Caso de Usos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0677525" y="6400800"/>
            <a:ext cx="94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0175" y="1435400"/>
            <a:ext cx="5661826" cy="452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Lógica de Negocio: Flujos n8n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71500" y="64008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Evidencias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0677525" y="6400800"/>
            <a:ext cx="942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248602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Flujo de Registro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571500" y="30099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Recibe datos del frontend, asigna roles automáticamente, encripta la contraseña y guarda el registro en la BBDD.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390525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Flujo de Inicio de Sesión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571500" y="44291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 el email, compara el hash SHA-256 de la contraseña y genera un Token JWT seguro para la sesión.</a:t>
            </a:r>
            <a:endParaRPr/>
          </a:p>
        </p:txBody>
      </p:sp>
      <p:pic>
        <p:nvPicPr>
          <p:cNvPr descr="image.png" id="253" name="Google Shape;2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2412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433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7381" y="1658724"/>
            <a:ext cx="5342670" cy="4073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675" y="131363"/>
            <a:ext cx="9568799" cy="659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00500"/>
            <a:ext cx="12192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3230641" y="1625947"/>
            <a:ext cx="5730716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Plataforma Operativa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3314700" y="2587972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sistema se encuentra desplegado y accesible públicamente.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3852862" y="4797772"/>
            <a:ext cx="44862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CRM Residencia - Módulo de Administración y Acceso Familiar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571500" y="6400800"/>
            <a:ext cx="1123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06. Demostración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0677525" y="6400800"/>
            <a:ext cx="942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43825" y="370239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4596000" y="3429000"/>
            <a:ext cx="3000000" cy="4002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chemeClr val="lt1"/>
                </a:solidFill>
              </a:rPr>
              <a:t>http://hogarsanlucianoo.com/</a:t>
            </a:r>
            <a:endParaRPr b="1" u="sng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/>
        </p:nvSpPr>
        <p:spPr>
          <a:xfrm>
            <a:off x="4167350" y="1627125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6B3"/>
                </a:solidFill>
                <a:latin typeface="Outfit"/>
                <a:ea typeface="Outfit"/>
                <a:cs typeface="Outfit"/>
                <a:sym typeface="Outfit"/>
              </a:rPr>
              <a:t>n8n Workflow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2836225" y="2629797"/>
            <a:ext cx="556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Backend y </a:t>
            </a:r>
            <a:r>
              <a:rPr lang="en-US" sz="15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Automatización</a:t>
            </a:r>
            <a:endParaRPr/>
          </a:p>
        </p:txBody>
      </p:sp>
      <p:pic>
        <p:nvPicPr>
          <p:cNvPr descr="image.png" id="280" name="Google Shape;2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00500"/>
            <a:ext cx="12192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3852862" y="4797772"/>
            <a:ext cx="44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CRM Residencia - Módulo de Administración y Acceso Familiar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10677525" y="6400800"/>
            <a:ext cx="94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 Pro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571500" y="6400800"/>
            <a:ext cx="112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Workflow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4167350" y="2956350"/>
            <a:ext cx="3000000" cy="6156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chemeClr val="lt1"/>
                </a:solidFill>
              </a:rPr>
              <a:t>http://162.240.153.93/workflow/eHr4AFpmTDCIqjaN</a:t>
            </a:r>
            <a:endParaRPr b="1" u="sng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/>
        </p:nvSpPr>
        <p:spPr>
          <a:xfrm>
            <a:off x="295275" y="1764059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¡Gracias por su atención!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571500" y="285363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Quedamos atentos a sus preguntas.</a:t>
            </a:r>
            <a:endParaRPr/>
          </a:p>
        </p:txBody>
      </p:sp>
      <p:pic>
        <p:nvPicPr>
          <p:cNvPr descr="image.png" id="291" name="Google Shape;2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75" y="3981301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5176837" y="4629001"/>
            <a:ext cx="1838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 Automatiza Pro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