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</p:sldIdLst>
  <p:sldSz cx="18288000" cy="10287000"/>
  <p:notesSz cx="6858000" cy="9144000"/>
  <p:embeddedFontLst>
    <p:embeddedFont>
      <p:font typeface="Arial" panose="020B0604020202020204" pitchFamily="34" charset="0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Fredoka" panose="020B0604020202020204" charset="0"/>
      <p:regular r:id="rId24"/>
    </p:embeddedFont>
    <p:embeddedFont>
      <p:font typeface="Gotham" panose="020B0604020202020204" charset="0"/>
      <p:regular r:id="rId25"/>
    </p:embeddedFont>
    <p:embeddedFont>
      <p:font typeface="Gotham Bold" panose="020B0604020202020204" charset="0"/>
      <p:regular r:id="rId26"/>
    </p:embeddedFont>
    <p:embeddedFont>
      <p:font typeface="Gotham Italics" panose="020B0604020202020204" charset="0"/>
      <p:regular r:id="rId27"/>
    </p:embeddedFont>
    <p:embeddedFont>
      <p:font typeface="Inter" panose="020B0604020202020204" charset="0"/>
      <p:regular r:id="rId28"/>
    </p:embeddedFont>
    <p:embeddedFont>
      <p:font typeface="Inter Bold" panose="020B0604020202020204" charset="0"/>
      <p:regular r:id="rId29"/>
    </p:embeddedFont>
    <p:embeddedFont>
      <p:font typeface="Inter Italics" panose="020B0604020202020204" charset="0"/>
      <p:regular r:id="rId30"/>
    </p:embeddedFont>
    <p:embeddedFont>
      <p:font typeface="Montserrat Bold" panose="020B0604020202020204" charset="0"/>
      <p:regular r:id="rId31"/>
    </p:embeddedFont>
    <p:embeddedFont>
      <p:font typeface="Poppins Bold" panose="020B060402020202020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54" y="-8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6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4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23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hyperlink" Target="http://hogarsanlucianoo.com" TargetMode="External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sv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svg"/><Relationship Id="rId4" Type="http://schemas.openxmlformats.org/officeDocument/2006/relationships/image" Target="../media/image51.svg"/><Relationship Id="rId9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14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10" Type="http://schemas.openxmlformats.org/officeDocument/2006/relationships/image" Target="../media/image23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jpeg"/><Relationship Id="rId3" Type="http://schemas.openxmlformats.org/officeDocument/2006/relationships/image" Target="../media/image66.jpeg"/><Relationship Id="rId7" Type="http://schemas.openxmlformats.org/officeDocument/2006/relationships/image" Target="../media/image7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jpeg"/><Relationship Id="rId11" Type="http://schemas.openxmlformats.org/officeDocument/2006/relationships/image" Target="../media/image74.jpeg"/><Relationship Id="rId5" Type="http://schemas.openxmlformats.org/officeDocument/2006/relationships/image" Target="../media/image68.jpeg"/><Relationship Id="rId10" Type="http://schemas.openxmlformats.org/officeDocument/2006/relationships/image" Target="../media/image73.jpeg"/><Relationship Id="rId4" Type="http://schemas.openxmlformats.org/officeDocument/2006/relationships/image" Target="../media/image67.jpeg"/><Relationship Id="rId9" Type="http://schemas.openxmlformats.org/officeDocument/2006/relationships/image" Target="../media/image7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hyperlink" Target="https://www.canva.com/design/DAG6hd4Ex2Q/djFXgvHJOAOPgdbT4wGcwQ/edit?utm_content=DAG6hd4Ex2Q&amp;utm_campaign=designshare&amp;utm_medium=link2&amp;utm_source=sharebutton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svg"/><Relationship Id="rId5" Type="http://schemas.openxmlformats.org/officeDocument/2006/relationships/image" Target="../media/image75.png"/><Relationship Id="rId4" Type="http://schemas.openxmlformats.org/officeDocument/2006/relationships/image" Target="../media/image4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9558262" y="0"/>
            <a:ext cx="8729738" cy="10287002"/>
            <a:chOff x="0" y="0"/>
            <a:chExt cx="11639650" cy="13716002"/>
          </a:xfrm>
        </p:grpSpPr>
        <p:sp>
          <p:nvSpPr>
            <p:cNvPr id="3" name="Freeform 3" descr="genérame una imagen de una enfermera con una tablet atendiendo a un anciano"/>
            <p:cNvSpPr/>
            <p:nvPr/>
          </p:nvSpPr>
          <p:spPr>
            <a:xfrm>
              <a:off x="0" y="0"/>
              <a:ext cx="11639677" cy="13716000"/>
            </a:xfrm>
            <a:custGeom>
              <a:avLst/>
              <a:gdLst/>
              <a:ahLst/>
              <a:cxnLst/>
              <a:rect l="l" t="t" r="r" b="b"/>
              <a:pathLst>
                <a:path w="11639677" h="13716000">
                  <a:moveTo>
                    <a:pt x="0" y="0"/>
                  </a:moveTo>
                  <a:lnTo>
                    <a:pt x="11639677" y="0"/>
                  </a:lnTo>
                  <a:lnTo>
                    <a:pt x="11639677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919" r="-8919"/>
              </a:stretch>
            </a:blip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5586125" y="0"/>
            <a:ext cx="2701878" cy="990788"/>
            <a:chOff x="0" y="0"/>
            <a:chExt cx="3602504" cy="13210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02482" cy="1321054"/>
            </a:xfrm>
            <a:custGeom>
              <a:avLst/>
              <a:gdLst/>
              <a:ahLst/>
              <a:cxnLst/>
              <a:rect l="l" t="t" r="r" b="b"/>
              <a:pathLst>
                <a:path w="3602482" h="1321054">
                  <a:moveTo>
                    <a:pt x="0" y="0"/>
                  </a:moveTo>
                  <a:lnTo>
                    <a:pt x="3602482" y="0"/>
                  </a:lnTo>
                  <a:lnTo>
                    <a:pt x="3602482" y="1321054"/>
                  </a:lnTo>
                  <a:lnTo>
                    <a:pt x="0" y="1321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670446" y="1386617"/>
            <a:ext cx="8171968" cy="3368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789" b="1">
                <a:solidFill>
                  <a:srgbClr val="00A39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 Final Capstone</a:t>
            </a:r>
          </a:p>
          <a:p>
            <a:pPr algn="l">
              <a:lnSpc>
                <a:spcPts val="8398"/>
              </a:lnSpc>
            </a:pPr>
            <a:r>
              <a:rPr lang="en-US" sz="6362" b="1">
                <a:solidFill>
                  <a:srgbClr val="002D5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Transformando el Cuidado</a:t>
            </a:r>
          </a:p>
          <a:p>
            <a:pPr algn="l">
              <a:lnSpc>
                <a:spcPts val="4581"/>
              </a:lnSpc>
            </a:pPr>
            <a:r>
              <a:rPr lang="en-US" sz="2386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De Papel a una Plataforma Digital Inteligente</a:t>
            </a:r>
          </a:p>
          <a:p>
            <a:pPr algn="l">
              <a:lnSpc>
                <a:spcPts val="3435"/>
              </a:lnSpc>
            </a:pPr>
            <a:endParaRPr lang="en-US" sz="2386">
              <a:solidFill>
                <a:srgbClr val="55555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58239" y="7879290"/>
            <a:ext cx="8015925" cy="2015722"/>
            <a:chOff x="0" y="0"/>
            <a:chExt cx="1197779" cy="3011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7779" cy="301199"/>
            </a:xfrm>
            <a:custGeom>
              <a:avLst/>
              <a:gdLst/>
              <a:ahLst/>
              <a:cxnLst/>
              <a:rect l="l" t="t" r="r" b="b"/>
              <a:pathLst>
                <a:path w="1197779" h="301199">
                  <a:moveTo>
                    <a:pt x="17385" y="0"/>
                  </a:moveTo>
                  <a:lnTo>
                    <a:pt x="1180394" y="0"/>
                  </a:lnTo>
                  <a:cubicBezTo>
                    <a:pt x="1185005" y="0"/>
                    <a:pt x="1189427" y="1832"/>
                    <a:pt x="1192687" y="5092"/>
                  </a:cubicBezTo>
                  <a:cubicBezTo>
                    <a:pt x="1195948" y="8352"/>
                    <a:pt x="1197779" y="12774"/>
                    <a:pt x="1197779" y="17385"/>
                  </a:cubicBezTo>
                  <a:lnTo>
                    <a:pt x="1197779" y="283814"/>
                  </a:lnTo>
                  <a:cubicBezTo>
                    <a:pt x="1197779" y="288425"/>
                    <a:pt x="1195948" y="292847"/>
                    <a:pt x="1192687" y="296107"/>
                  </a:cubicBezTo>
                  <a:cubicBezTo>
                    <a:pt x="1189427" y="299368"/>
                    <a:pt x="1185005" y="301199"/>
                    <a:pt x="1180394" y="301199"/>
                  </a:cubicBezTo>
                  <a:lnTo>
                    <a:pt x="17385" y="301199"/>
                  </a:lnTo>
                  <a:cubicBezTo>
                    <a:pt x="12774" y="301199"/>
                    <a:pt x="8352" y="299368"/>
                    <a:pt x="5092" y="296107"/>
                  </a:cubicBezTo>
                  <a:cubicBezTo>
                    <a:pt x="1832" y="292847"/>
                    <a:pt x="0" y="288425"/>
                    <a:pt x="0" y="283814"/>
                  </a:cubicBezTo>
                  <a:lnTo>
                    <a:pt x="0" y="17385"/>
                  </a:lnTo>
                  <a:cubicBezTo>
                    <a:pt x="0" y="12774"/>
                    <a:pt x="1832" y="8352"/>
                    <a:pt x="5092" y="5092"/>
                  </a:cubicBezTo>
                  <a:cubicBezTo>
                    <a:pt x="8352" y="1832"/>
                    <a:pt x="12774" y="0"/>
                    <a:pt x="17385" y="0"/>
                  </a:cubicBezTo>
                  <a:close/>
                </a:path>
              </a:pathLst>
            </a:custGeom>
            <a:solidFill>
              <a:srgbClr val="00375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1197779" cy="4440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8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358239" y="5482673"/>
            <a:ext cx="8015925" cy="2015616"/>
            <a:chOff x="0" y="0"/>
            <a:chExt cx="1197779" cy="3011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97779" cy="301183"/>
            </a:xfrm>
            <a:custGeom>
              <a:avLst/>
              <a:gdLst/>
              <a:ahLst/>
              <a:cxnLst/>
              <a:rect l="l" t="t" r="r" b="b"/>
              <a:pathLst>
                <a:path w="1197779" h="301183">
                  <a:moveTo>
                    <a:pt x="17385" y="0"/>
                  </a:moveTo>
                  <a:lnTo>
                    <a:pt x="1180394" y="0"/>
                  </a:lnTo>
                  <a:cubicBezTo>
                    <a:pt x="1185005" y="0"/>
                    <a:pt x="1189427" y="1832"/>
                    <a:pt x="1192687" y="5092"/>
                  </a:cubicBezTo>
                  <a:cubicBezTo>
                    <a:pt x="1195948" y="8352"/>
                    <a:pt x="1197779" y="12774"/>
                    <a:pt x="1197779" y="17385"/>
                  </a:cubicBezTo>
                  <a:lnTo>
                    <a:pt x="1197779" y="283799"/>
                  </a:lnTo>
                  <a:cubicBezTo>
                    <a:pt x="1197779" y="288409"/>
                    <a:pt x="1195948" y="292831"/>
                    <a:pt x="1192687" y="296091"/>
                  </a:cubicBezTo>
                  <a:cubicBezTo>
                    <a:pt x="1189427" y="299352"/>
                    <a:pt x="1185005" y="301183"/>
                    <a:pt x="1180394" y="301183"/>
                  </a:cubicBezTo>
                  <a:lnTo>
                    <a:pt x="17385" y="301183"/>
                  </a:lnTo>
                  <a:cubicBezTo>
                    <a:pt x="12774" y="301183"/>
                    <a:pt x="8352" y="299352"/>
                    <a:pt x="5092" y="296091"/>
                  </a:cubicBezTo>
                  <a:cubicBezTo>
                    <a:pt x="1832" y="292831"/>
                    <a:pt x="0" y="288409"/>
                    <a:pt x="0" y="283799"/>
                  </a:cubicBezTo>
                  <a:lnTo>
                    <a:pt x="0" y="17385"/>
                  </a:lnTo>
                  <a:cubicBezTo>
                    <a:pt x="0" y="12774"/>
                    <a:pt x="1832" y="8352"/>
                    <a:pt x="5092" y="5092"/>
                  </a:cubicBezTo>
                  <a:cubicBezTo>
                    <a:pt x="8352" y="1832"/>
                    <a:pt x="12774" y="0"/>
                    <a:pt x="17385" y="0"/>
                  </a:cubicBezTo>
                  <a:close/>
                </a:path>
              </a:pathLst>
            </a:custGeom>
            <a:solidFill>
              <a:srgbClr val="00375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42875"/>
              <a:ext cx="1197779" cy="444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8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58239" y="3086057"/>
            <a:ext cx="8015925" cy="2015616"/>
            <a:chOff x="0" y="0"/>
            <a:chExt cx="1197779" cy="3011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97779" cy="301183"/>
            </a:xfrm>
            <a:custGeom>
              <a:avLst/>
              <a:gdLst/>
              <a:ahLst/>
              <a:cxnLst/>
              <a:rect l="l" t="t" r="r" b="b"/>
              <a:pathLst>
                <a:path w="1197779" h="301183">
                  <a:moveTo>
                    <a:pt x="18351" y="0"/>
                  </a:moveTo>
                  <a:lnTo>
                    <a:pt x="1179429" y="0"/>
                  </a:lnTo>
                  <a:cubicBezTo>
                    <a:pt x="1184295" y="0"/>
                    <a:pt x="1188963" y="1933"/>
                    <a:pt x="1192404" y="5375"/>
                  </a:cubicBezTo>
                  <a:cubicBezTo>
                    <a:pt x="1195846" y="8816"/>
                    <a:pt x="1197779" y="13484"/>
                    <a:pt x="1197779" y="18351"/>
                  </a:cubicBezTo>
                  <a:lnTo>
                    <a:pt x="1197779" y="282833"/>
                  </a:lnTo>
                  <a:cubicBezTo>
                    <a:pt x="1197779" y="287700"/>
                    <a:pt x="1195846" y="292367"/>
                    <a:pt x="1192404" y="295809"/>
                  </a:cubicBezTo>
                  <a:cubicBezTo>
                    <a:pt x="1188963" y="299250"/>
                    <a:pt x="1184295" y="301183"/>
                    <a:pt x="1179429" y="301183"/>
                  </a:cubicBezTo>
                  <a:lnTo>
                    <a:pt x="18351" y="301183"/>
                  </a:lnTo>
                  <a:cubicBezTo>
                    <a:pt x="13484" y="301183"/>
                    <a:pt x="8816" y="299250"/>
                    <a:pt x="5375" y="295809"/>
                  </a:cubicBezTo>
                  <a:cubicBezTo>
                    <a:pt x="1933" y="292367"/>
                    <a:pt x="0" y="287700"/>
                    <a:pt x="0" y="282833"/>
                  </a:cubicBezTo>
                  <a:lnTo>
                    <a:pt x="0" y="18351"/>
                  </a:lnTo>
                  <a:cubicBezTo>
                    <a:pt x="0" y="13484"/>
                    <a:pt x="1933" y="8816"/>
                    <a:pt x="5375" y="5375"/>
                  </a:cubicBezTo>
                  <a:cubicBezTo>
                    <a:pt x="8816" y="1933"/>
                    <a:pt x="13484" y="0"/>
                    <a:pt x="18351" y="0"/>
                  </a:cubicBezTo>
                  <a:close/>
                </a:path>
              </a:pathLst>
            </a:custGeom>
            <a:solidFill>
              <a:srgbClr val="00375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42875"/>
              <a:ext cx="1197779" cy="444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87"/>
                </a:lnSpc>
              </a:pPr>
              <a:endParaRPr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5586125" y="0"/>
            <a:ext cx="2701878" cy="990788"/>
            <a:chOff x="0" y="0"/>
            <a:chExt cx="3602504" cy="13210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02482" cy="1321054"/>
            </a:xfrm>
            <a:custGeom>
              <a:avLst/>
              <a:gdLst/>
              <a:ahLst/>
              <a:cxnLst/>
              <a:rect l="l" t="t" r="r" b="b"/>
              <a:pathLst>
                <a:path w="3602482" h="1321054">
                  <a:moveTo>
                    <a:pt x="0" y="0"/>
                  </a:moveTo>
                  <a:lnTo>
                    <a:pt x="3602482" y="0"/>
                  </a:lnTo>
                  <a:lnTo>
                    <a:pt x="3602482" y="1321054"/>
                  </a:lnTo>
                  <a:lnTo>
                    <a:pt x="0" y="1321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5542037" y="3183740"/>
            <a:ext cx="1820250" cy="182025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97824" y="0"/>
                  </a:moveTo>
                  <a:lnTo>
                    <a:pt x="714976" y="0"/>
                  </a:lnTo>
                  <a:cubicBezTo>
                    <a:pt x="769003" y="0"/>
                    <a:pt x="812800" y="43797"/>
                    <a:pt x="812800" y="97824"/>
                  </a:cubicBezTo>
                  <a:lnTo>
                    <a:pt x="812800" y="714976"/>
                  </a:lnTo>
                  <a:cubicBezTo>
                    <a:pt x="812800" y="769003"/>
                    <a:pt x="769003" y="812800"/>
                    <a:pt x="714976" y="812800"/>
                  </a:cubicBezTo>
                  <a:lnTo>
                    <a:pt x="97824" y="812800"/>
                  </a:lnTo>
                  <a:cubicBezTo>
                    <a:pt x="43797" y="812800"/>
                    <a:pt x="0" y="769003"/>
                    <a:pt x="0" y="714976"/>
                  </a:cubicBezTo>
                  <a:lnTo>
                    <a:pt x="0" y="97824"/>
                  </a:lnTo>
                  <a:cubicBezTo>
                    <a:pt x="0" y="43797"/>
                    <a:pt x="43797" y="0"/>
                    <a:pt x="97824" y="0"/>
                  </a:cubicBezTo>
                  <a:close/>
                </a:path>
              </a:pathLst>
            </a:custGeom>
            <a:blipFill>
              <a:blip r:embed="rId3"/>
              <a:stretch>
                <a:fillRect l="-17195" t="-31904" r="-15424" b="-43460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5542037" y="5577923"/>
            <a:ext cx="1820250" cy="182025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97824" y="0"/>
                  </a:moveTo>
                  <a:lnTo>
                    <a:pt x="714976" y="0"/>
                  </a:lnTo>
                  <a:cubicBezTo>
                    <a:pt x="769003" y="0"/>
                    <a:pt x="812800" y="43797"/>
                    <a:pt x="812800" y="97824"/>
                  </a:cubicBezTo>
                  <a:lnTo>
                    <a:pt x="812800" y="714976"/>
                  </a:lnTo>
                  <a:cubicBezTo>
                    <a:pt x="812800" y="769003"/>
                    <a:pt x="769003" y="812800"/>
                    <a:pt x="714976" y="812800"/>
                  </a:cubicBezTo>
                  <a:lnTo>
                    <a:pt x="97824" y="812800"/>
                  </a:lnTo>
                  <a:cubicBezTo>
                    <a:pt x="43797" y="812800"/>
                    <a:pt x="0" y="769003"/>
                    <a:pt x="0" y="714976"/>
                  </a:cubicBezTo>
                  <a:lnTo>
                    <a:pt x="0" y="97824"/>
                  </a:lnTo>
                  <a:cubicBezTo>
                    <a:pt x="0" y="43797"/>
                    <a:pt x="43797" y="0"/>
                    <a:pt x="97824" y="0"/>
                  </a:cubicBezTo>
                  <a:close/>
                </a:path>
              </a:pathLst>
            </a:custGeom>
            <a:blipFill>
              <a:blip r:embed="rId4"/>
              <a:stretch>
                <a:fillRect t="-25046" b="-25046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5542037" y="7974540"/>
            <a:ext cx="1820250" cy="182025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97824" y="0"/>
                  </a:moveTo>
                  <a:lnTo>
                    <a:pt x="714976" y="0"/>
                  </a:lnTo>
                  <a:cubicBezTo>
                    <a:pt x="769003" y="0"/>
                    <a:pt x="812800" y="43797"/>
                    <a:pt x="812800" y="97824"/>
                  </a:cubicBezTo>
                  <a:lnTo>
                    <a:pt x="812800" y="714976"/>
                  </a:lnTo>
                  <a:cubicBezTo>
                    <a:pt x="812800" y="769003"/>
                    <a:pt x="769003" y="812800"/>
                    <a:pt x="714976" y="812800"/>
                  </a:cubicBezTo>
                  <a:lnTo>
                    <a:pt x="97824" y="812800"/>
                  </a:lnTo>
                  <a:cubicBezTo>
                    <a:pt x="43797" y="812800"/>
                    <a:pt x="0" y="769003"/>
                    <a:pt x="0" y="714976"/>
                  </a:cubicBezTo>
                  <a:lnTo>
                    <a:pt x="0" y="97824"/>
                  </a:lnTo>
                  <a:cubicBezTo>
                    <a:pt x="0" y="43797"/>
                    <a:pt x="43797" y="0"/>
                    <a:pt x="97824" y="0"/>
                  </a:cubicBezTo>
                  <a:close/>
                </a:path>
              </a:pathLst>
            </a:custGeom>
            <a:blipFill>
              <a:blip r:embed="rId5"/>
              <a:stretch>
                <a:fillRect l="-761" r="-761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5358239" y="258638"/>
            <a:ext cx="8015925" cy="2446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3"/>
              </a:lnSpc>
            </a:pPr>
            <a:r>
              <a:rPr lang="en-US" sz="4559" b="1">
                <a:solidFill>
                  <a:srgbClr val="00A39D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INTEGRANTES </a:t>
            </a:r>
          </a:p>
          <a:p>
            <a:pPr algn="ctr">
              <a:lnSpc>
                <a:spcPts val="6383"/>
              </a:lnSpc>
            </a:pPr>
            <a:r>
              <a:rPr lang="en-US" sz="4559" b="1">
                <a:solidFill>
                  <a:srgbClr val="00A39D"/>
                </a:solidFill>
                <a:latin typeface="Poppins Bold"/>
                <a:ea typeface="Poppins Bold"/>
                <a:cs typeface="Poppins Bold"/>
                <a:sym typeface="Poppins Bold"/>
              </a:rPr>
              <a:t>DEL</a:t>
            </a:r>
          </a:p>
          <a:p>
            <a:pPr algn="ctr">
              <a:lnSpc>
                <a:spcPts val="6383"/>
              </a:lnSpc>
            </a:pPr>
            <a:r>
              <a:rPr lang="en-US" sz="4559" b="1">
                <a:solidFill>
                  <a:srgbClr val="00A39D"/>
                </a:solidFill>
                <a:latin typeface="Poppins Bold"/>
                <a:ea typeface="Poppins Bold"/>
                <a:cs typeface="Poppins Bold"/>
                <a:sym typeface="Poppins Bold"/>
              </a:rPr>
              <a:t>PROYECTO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687841" y="3292038"/>
            <a:ext cx="8015925" cy="929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7"/>
              </a:lnSpc>
              <a:spcBef>
                <a:spcPct val="0"/>
              </a:spcBef>
            </a:pPr>
            <a:r>
              <a:rPr lang="en-US" sz="202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Vicente Sánchez Caris</a:t>
            </a:r>
          </a:p>
          <a:p>
            <a:pPr algn="ctr">
              <a:lnSpc>
                <a:spcPts val="3887"/>
              </a:lnSpc>
              <a:spcBef>
                <a:spcPct val="0"/>
              </a:spcBef>
            </a:pPr>
            <a:endParaRPr lang="en-US" sz="2025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5687841" y="5709175"/>
            <a:ext cx="8015925" cy="443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7"/>
              </a:lnSpc>
              <a:spcBef>
                <a:spcPct val="0"/>
              </a:spcBef>
            </a:pPr>
            <a:r>
              <a:rPr lang="en-US" sz="202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Felipe Olmedo Azua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542037" y="8105792"/>
            <a:ext cx="8015925" cy="443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7"/>
              </a:lnSpc>
              <a:spcBef>
                <a:spcPct val="0"/>
              </a:spcBef>
            </a:pPr>
            <a:r>
              <a:rPr lang="en-US" sz="202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Lucas Ramirez Veliz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510969" y="8779981"/>
            <a:ext cx="7858125" cy="1394370"/>
            <a:chOff x="0" y="0"/>
            <a:chExt cx="10477500" cy="185916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10477500" cy="1859153"/>
            </a:xfrm>
            <a:custGeom>
              <a:avLst/>
              <a:gdLst/>
              <a:ahLst/>
              <a:cxnLst/>
              <a:rect l="l" t="t" r="r" b="b"/>
              <a:pathLst>
                <a:path w="10477500" h="1859153">
                  <a:moveTo>
                    <a:pt x="0" y="0"/>
                  </a:moveTo>
                  <a:lnTo>
                    <a:pt x="10477500" y="0"/>
                  </a:lnTo>
                  <a:lnTo>
                    <a:pt x="10477500" y="1859153"/>
                  </a:lnTo>
                  <a:lnTo>
                    <a:pt x="0" y="1859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441"/>
              </a:stretch>
            </a:blip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0022991" y="2394984"/>
            <a:ext cx="6987498" cy="5960811"/>
            <a:chOff x="0" y="0"/>
            <a:chExt cx="10477500" cy="893802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477500" cy="8938006"/>
            </a:xfrm>
            <a:custGeom>
              <a:avLst/>
              <a:gdLst/>
              <a:ahLst/>
              <a:cxnLst/>
              <a:rect l="l" t="t" r="r" b="b"/>
              <a:pathLst>
                <a:path w="10477500" h="8938006">
                  <a:moveTo>
                    <a:pt x="0" y="0"/>
                  </a:moveTo>
                  <a:lnTo>
                    <a:pt x="10477500" y="0"/>
                  </a:lnTo>
                  <a:lnTo>
                    <a:pt x="10477500" y="8938006"/>
                  </a:lnTo>
                  <a:lnTo>
                    <a:pt x="0" y="8938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73"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0001250" y="5854749"/>
            <a:ext cx="7000875" cy="2857500"/>
            <a:chOff x="0" y="0"/>
            <a:chExt cx="9334500" cy="38100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9334500" cy="3810000"/>
            </a:xfrm>
            <a:custGeom>
              <a:avLst/>
              <a:gdLst/>
              <a:ahLst/>
              <a:cxnLst/>
              <a:rect l="l" t="t" r="r" b="b"/>
              <a:pathLst>
                <a:path w="9334500" h="3810000">
                  <a:moveTo>
                    <a:pt x="0" y="0"/>
                  </a:moveTo>
                  <a:lnTo>
                    <a:pt x="9334500" y="0"/>
                  </a:lnTo>
                  <a:lnTo>
                    <a:pt x="9334500" y="3810000"/>
                  </a:lnTo>
                  <a:lnTo>
                    <a:pt x="0" y="381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50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1195950" y="3550641"/>
            <a:ext cx="2922761" cy="425749"/>
            <a:chOff x="0" y="0"/>
            <a:chExt cx="3765995" cy="5485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65995" cy="548580"/>
            </a:xfrm>
            <a:custGeom>
              <a:avLst/>
              <a:gdLst/>
              <a:ahLst/>
              <a:cxnLst/>
              <a:rect l="l" t="t" r="r" b="b"/>
              <a:pathLst>
                <a:path w="3765995" h="548580">
                  <a:moveTo>
                    <a:pt x="0" y="0"/>
                  </a:moveTo>
                  <a:lnTo>
                    <a:pt x="3765995" y="0"/>
                  </a:lnTo>
                  <a:lnTo>
                    <a:pt x="3765995" y="548580"/>
                  </a:lnTo>
                  <a:lnTo>
                    <a:pt x="0" y="5485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33350"/>
              <a:ext cx="3765995" cy="681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04"/>
                </a:lnSpc>
              </a:pPr>
              <a:r>
                <a:rPr lang="en-US" sz="182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Desarrollo de Software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166381" y="4124350"/>
            <a:ext cx="2315007" cy="425749"/>
            <a:chOff x="0" y="0"/>
            <a:chExt cx="2982901" cy="5485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82901" cy="548580"/>
            </a:xfrm>
            <a:custGeom>
              <a:avLst/>
              <a:gdLst/>
              <a:ahLst/>
              <a:cxnLst/>
              <a:rect l="l" t="t" r="r" b="b"/>
              <a:pathLst>
                <a:path w="2982901" h="548580">
                  <a:moveTo>
                    <a:pt x="0" y="0"/>
                  </a:moveTo>
                  <a:lnTo>
                    <a:pt x="2982901" y="0"/>
                  </a:lnTo>
                  <a:lnTo>
                    <a:pt x="2982901" y="548580"/>
                  </a:lnTo>
                  <a:lnTo>
                    <a:pt x="0" y="5485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33350"/>
              <a:ext cx="2982901" cy="681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04"/>
                </a:lnSpc>
              </a:pPr>
              <a:r>
                <a:rPr lang="en-US" sz="182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Gestión de Datos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195950" y="4697946"/>
            <a:ext cx="1869100" cy="425749"/>
            <a:chOff x="0" y="0"/>
            <a:chExt cx="2408346" cy="5485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08346" cy="548580"/>
            </a:xfrm>
            <a:custGeom>
              <a:avLst/>
              <a:gdLst/>
              <a:ahLst/>
              <a:cxnLst/>
              <a:rect l="l" t="t" r="r" b="b"/>
              <a:pathLst>
                <a:path w="2408346" h="548580">
                  <a:moveTo>
                    <a:pt x="0" y="0"/>
                  </a:moveTo>
                  <a:lnTo>
                    <a:pt x="2408346" y="0"/>
                  </a:lnTo>
                  <a:lnTo>
                    <a:pt x="2408346" y="548580"/>
                  </a:lnTo>
                  <a:lnTo>
                    <a:pt x="0" y="5485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133350"/>
              <a:ext cx="2408346" cy="681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04"/>
                </a:lnSpc>
              </a:pPr>
              <a:r>
                <a:rPr lang="en-US" sz="1825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IA y Análisis</a:t>
              </a:r>
            </a:p>
          </p:txBody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10708059" y="3630454"/>
            <a:ext cx="340045" cy="266122"/>
            <a:chOff x="0" y="0"/>
            <a:chExt cx="438150" cy="342900"/>
          </a:xfrm>
        </p:grpSpPr>
        <p:sp>
          <p:nvSpPr>
            <p:cNvPr id="18" name="Freeform 18" descr="image.png"/>
            <p:cNvSpPr/>
            <p:nvPr/>
          </p:nvSpPr>
          <p:spPr>
            <a:xfrm>
              <a:off x="0" y="0"/>
              <a:ext cx="438150" cy="342900"/>
            </a:xfrm>
            <a:custGeom>
              <a:avLst/>
              <a:gdLst/>
              <a:ahLst/>
              <a:cxnLst/>
              <a:rect l="l" t="t" r="r" b="b"/>
              <a:pathLst>
                <a:path w="438150" h="342900">
                  <a:moveTo>
                    <a:pt x="0" y="0"/>
                  </a:moveTo>
                  <a:lnTo>
                    <a:pt x="438150" y="0"/>
                  </a:lnTo>
                  <a:lnTo>
                    <a:pt x="43815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5555"/>
              </a:stretch>
            </a:blipFill>
          </p:spPr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10781982" y="4204049"/>
            <a:ext cx="236553" cy="266122"/>
            <a:chOff x="0" y="0"/>
            <a:chExt cx="304800" cy="342900"/>
          </a:xfrm>
        </p:grpSpPr>
        <p:sp>
          <p:nvSpPr>
            <p:cNvPr id="20" name="Freeform 20" descr="image.png"/>
            <p:cNvSpPr/>
            <p:nvPr/>
          </p:nvSpPr>
          <p:spPr>
            <a:xfrm>
              <a:off x="0" y="0"/>
              <a:ext cx="304800" cy="342900"/>
            </a:xfrm>
            <a:custGeom>
              <a:avLst/>
              <a:gdLst/>
              <a:ahLst/>
              <a:cxnLst/>
              <a:rect l="l" t="t" r="r" b="b"/>
              <a:pathLst>
                <a:path w="304800" h="342900">
                  <a:moveTo>
                    <a:pt x="0" y="0"/>
                  </a:moveTo>
                  <a:lnTo>
                    <a:pt x="304800" y="0"/>
                  </a:lnTo>
                  <a:lnTo>
                    <a:pt x="3048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5555"/>
              </a:stretch>
            </a:blipFill>
          </p:spPr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10781982" y="4777643"/>
            <a:ext cx="266122" cy="266122"/>
            <a:chOff x="0" y="0"/>
            <a:chExt cx="342900" cy="342900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0" y="0"/>
                  </a:moveTo>
                  <a:lnTo>
                    <a:pt x="342900" y="0"/>
                  </a:lnTo>
                  <a:lnTo>
                    <a:pt x="3429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5555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1143000" y="695325"/>
            <a:ext cx="17102138" cy="881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2"/>
              </a:lnSpc>
            </a:pPr>
            <a:r>
              <a:rPr lang="en-US" sz="4725" b="1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Contexto del Proyecto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857250" y="857250"/>
            <a:ext cx="85725" cy="719955"/>
            <a:chOff x="0" y="0"/>
            <a:chExt cx="114300" cy="9599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4300" cy="959993"/>
            </a:xfrm>
            <a:custGeom>
              <a:avLst/>
              <a:gdLst/>
              <a:ahLst/>
              <a:cxnLst/>
              <a:rect l="l" t="t" r="r" b="b"/>
              <a:pathLst>
                <a:path w="114300" h="959993">
                  <a:moveTo>
                    <a:pt x="0" y="0"/>
                  </a:moveTo>
                  <a:lnTo>
                    <a:pt x="114300" y="0"/>
                  </a:lnTo>
                  <a:lnTo>
                    <a:pt x="114300" y="959993"/>
                  </a:lnTo>
                  <a:lnTo>
                    <a:pt x="0" y="959993"/>
                  </a:lnTo>
                  <a:close/>
                </a:path>
              </a:pathLst>
            </a:custGeom>
            <a:solidFill>
              <a:srgbClr val="14B8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10708059" y="5327812"/>
            <a:ext cx="5625827" cy="2770704"/>
            <a:chOff x="0" y="0"/>
            <a:chExt cx="8705850" cy="4287606"/>
          </a:xfrm>
        </p:grpSpPr>
        <p:sp>
          <p:nvSpPr>
            <p:cNvPr id="27" name="Freeform 27" descr="genérame una imagen de un hogar de ancianos"/>
            <p:cNvSpPr/>
            <p:nvPr/>
          </p:nvSpPr>
          <p:spPr>
            <a:xfrm>
              <a:off x="0" y="0"/>
              <a:ext cx="8705850" cy="4287647"/>
            </a:xfrm>
            <a:custGeom>
              <a:avLst/>
              <a:gdLst/>
              <a:ahLst/>
              <a:cxnLst/>
              <a:rect l="l" t="t" r="r" b="b"/>
              <a:pathLst>
                <a:path w="8705850" h="4287647">
                  <a:moveTo>
                    <a:pt x="0" y="0"/>
                  </a:moveTo>
                  <a:lnTo>
                    <a:pt x="8705850" y="0"/>
                  </a:lnTo>
                  <a:lnTo>
                    <a:pt x="8705850" y="4287647"/>
                  </a:lnTo>
                  <a:lnTo>
                    <a:pt x="0" y="4287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63949" b="-39095"/>
              </a:stretch>
            </a:blipFill>
          </p:spPr>
        </p:sp>
      </p:grpSp>
      <p:grpSp>
        <p:nvGrpSpPr>
          <p:cNvPr id="28" name="Group 28"/>
          <p:cNvGrpSpPr>
            <a:grpSpLocks noChangeAspect="1"/>
          </p:cNvGrpSpPr>
          <p:nvPr/>
        </p:nvGrpSpPr>
        <p:grpSpPr>
          <a:xfrm>
            <a:off x="15586125" y="0"/>
            <a:ext cx="2701878" cy="990788"/>
            <a:chOff x="0" y="0"/>
            <a:chExt cx="3602504" cy="13210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602482" cy="1321054"/>
            </a:xfrm>
            <a:custGeom>
              <a:avLst/>
              <a:gdLst/>
              <a:ahLst/>
              <a:cxnLst/>
              <a:rect l="l" t="t" r="r" b="b"/>
              <a:pathLst>
                <a:path w="3602482" h="1321054">
                  <a:moveTo>
                    <a:pt x="0" y="0"/>
                  </a:moveTo>
                  <a:lnTo>
                    <a:pt x="3602482" y="0"/>
                  </a:lnTo>
                  <a:lnTo>
                    <a:pt x="3602482" y="1321054"/>
                  </a:lnTo>
                  <a:lnTo>
                    <a:pt x="0" y="1321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1"/>
              </a:stretch>
            </a:blipFill>
          </p:spPr>
        </p:sp>
      </p:grpSp>
      <p:sp>
        <p:nvSpPr>
          <p:cNvPr id="30" name="Freeform 30"/>
          <p:cNvSpPr/>
          <p:nvPr/>
        </p:nvSpPr>
        <p:spPr>
          <a:xfrm>
            <a:off x="5062537" y="2223534"/>
            <a:ext cx="1475285" cy="1272433"/>
          </a:xfrm>
          <a:custGeom>
            <a:avLst/>
            <a:gdLst/>
            <a:ahLst/>
            <a:cxnLst/>
            <a:rect l="l" t="t" r="r" b="b"/>
            <a:pathLst>
              <a:path w="1475285" h="1272433">
                <a:moveTo>
                  <a:pt x="0" y="0"/>
                </a:moveTo>
                <a:lnTo>
                  <a:pt x="1475284" y="0"/>
                </a:lnTo>
                <a:lnTo>
                  <a:pt x="1475284" y="1272433"/>
                </a:lnTo>
                <a:lnTo>
                  <a:pt x="0" y="127243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442869" y="6324251"/>
            <a:ext cx="8251200" cy="66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2"/>
              </a:lnSpc>
            </a:pPr>
            <a:r>
              <a:rPr lang="en-US" sz="3600" b="1">
                <a:solidFill>
                  <a:srgbClr val="14B8A6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Automatizacion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39406" y="7181250"/>
            <a:ext cx="7858125" cy="1414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Modernización Digital de la Residencia San Luciano. Incluye desarrollo de aplicaciones web, modelado de BBDD, y aplicación de IA para análisis preventivo.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057475" y="8954957"/>
            <a:ext cx="7286625" cy="55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 b="1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Área de Desempeño: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057475" y="9366392"/>
            <a:ext cx="7286625" cy="55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Gestión de Proyectos Tecnológicos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708059" y="2802537"/>
            <a:ext cx="7579944" cy="519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9"/>
              </a:lnSpc>
            </a:pPr>
            <a:r>
              <a:rPr lang="en-US" sz="2784" b="1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Competencias Clave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39406" y="2109234"/>
            <a:ext cx="2844241" cy="1319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600" b="1">
                <a:solidFill>
                  <a:srgbClr val="00A39D"/>
                </a:solidFill>
                <a:latin typeface="Poppins Bold"/>
                <a:ea typeface="Poppins Bold"/>
                <a:cs typeface="Poppins Bold"/>
                <a:sym typeface="Poppins Bold"/>
              </a:rPr>
              <a:t>Residencia </a:t>
            </a:r>
          </a:p>
          <a:p>
            <a:pPr algn="l">
              <a:lnSpc>
                <a:spcPts val="5182"/>
              </a:lnSpc>
            </a:pPr>
            <a:r>
              <a:rPr lang="en-US" sz="3600" b="1">
                <a:solidFill>
                  <a:srgbClr val="00A39D"/>
                </a:solidFill>
                <a:latin typeface="Poppins Bold"/>
                <a:ea typeface="Poppins Bold"/>
                <a:cs typeface="Poppins Bold"/>
                <a:sym typeface="Poppins Bold"/>
              </a:rPr>
              <a:t>San Luciano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792042" y="3715601"/>
            <a:ext cx="2538968" cy="1855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2624" b="1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50 Residentes </a:t>
            </a:r>
          </a:p>
          <a:p>
            <a:pPr algn="l">
              <a:lnSpc>
                <a:spcPts val="5039"/>
              </a:lnSpc>
            </a:pPr>
            <a:r>
              <a:rPr lang="en-US" sz="2624" b="1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15 Funcionarios</a:t>
            </a:r>
          </a:p>
          <a:p>
            <a:pPr algn="l">
              <a:lnSpc>
                <a:spcPts val="5039"/>
              </a:lnSpc>
            </a:pPr>
            <a:r>
              <a:rPr lang="en-US" sz="2624" b="1">
                <a:solidFill>
                  <a:srgbClr val="334155"/>
                </a:solidFill>
                <a:latin typeface="Inter Bold"/>
                <a:ea typeface="Inter Bold"/>
                <a:cs typeface="Inter Bold"/>
                <a:sym typeface="Inter Bold"/>
              </a:rPr>
              <a:t>0 Digitalización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857250" y="1926134"/>
            <a:ext cx="8072438" cy="3648893"/>
            <a:chOff x="0" y="0"/>
            <a:chExt cx="10763250" cy="486519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763250" cy="4865243"/>
            </a:xfrm>
            <a:custGeom>
              <a:avLst/>
              <a:gdLst/>
              <a:ahLst/>
              <a:cxnLst/>
              <a:rect l="l" t="t" r="r" b="b"/>
              <a:pathLst>
                <a:path w="10763250" h="4865243">
                  <a:moveTo>
                    <a:pt x="0" y="0"/>
                  </a:moveTo>
                  <a:lnTo>
                    <a:pt x="10763250" y="0"/>
                  </a:lnTo>
                  <a:lnTo>
                    <a:pt x="10763250" y="4865243"/>
                  </a:lnTo>
                  <a:lnTo>
                    <a:pt x="0" y="4865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629"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9358312" y="1926134"/>
            <a:ext cx="8072438" cy="3648893"/>
            <a:chOff x="0" y="0"/>
            <a:chExt cx="10763250" cy="486519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0763250" cy="4865243"/>
            </a:xfrm>
            <a:custGeom>
              <a:avLst/>
              <a:gdLst/>
              <a:ahLst/>
              <a:cxnLst/>
              <a:rect l="l" t="t" r="r" b="b"/>
              <a:pathLst>
                <a:path w="10763250" h="4865243">
                  <a:moveTo>
                    <a:pt x="0" y="0"/>
                  </a:moveTo>
                  <a:lnTo>
                    <a:pt x="10763250" y="0"/>
                  </a:lnTo>
                  <a:lnTo>
                    <a:pt x="10763250" y="4865243"/>
                  </a:lnTo>
                  <a:lnTo>
                    <a:pt x="0" y="4865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629"/>
              </a:stretch>
            </a:blip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857250" y="6003651"/>
            <a:ext cx="8072438" cy="3648892"/>
            <a:chOff x="0" y="0"/>
            <a:chExt cx="10763250" cy="486519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10763250" cy="4865243"/>
            </a:xfrm>
            <a:custGeom>
              <a:avLst/>
              <a:gdLst/>
              <a:ahLst/>
              <a:cxnLst/>
              <a:rect l="l" t="t" r="r" b="b"/>
              <a:pathLst>
                <a:path w="10763250" h="4865243">
                  <a:moveTo>
                    <a:pt x="0" y="0"/>
                  </a:moveTo>
                  <a:lnTo>
                    <a:pt x="10763250" y="0"/>
                  </a:lnTo>
                  <a:lnTo>
                    <a:pt x="10763250" y="4865243"/>
                  </a:lnTo>
                  <a:lnTo>
                    <a:pt x="0" y="4865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237"/>
              </a:stretch>
            </a:blip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9358312" y="6003651"/>
            <a:ext cx="8072438" cy="3648892"/>
            <a:chOff x="0" y="0"/>
            <a:chExt cx="10763250" cy="486519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10763250" cy="4865243"/>
            </a:xfrm>
            <a:custGeom>
              <a:avLst/>
              <a:gdLst/>
              <a:ahLst/>
              <a:cxnLst/>
              <a:rect l="l" t="t" r="r" b="b"/>
              <a:pathLst>
                <a:path w="10763250" h="4865243">
                  <a:moveTo>
                    <a:pt x="0" y="0"/>
                  </a:moveTo>
                  <a:lnTo>
                    <a:pt x="10763250" y="0"/>
                  </a:lnTo>
                  <a:lnTo>
                    <a:pt x="10763250" y="4865243"/>
                  </a:lnTo>
                  <a:lnTo>
                    <a:pt x="0" y="4865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237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300162" y="3126283"/>
            <a:ext cx="7545942" cy="497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700" b="1">
                <a:solidFill>
                  <a:srgbClr val="F1F5F9"/>
                </a:solidFill>
                <a:latin typeface="Poppins Bold"/>
                <a:ea typeface="Poppins Bold"/>
                <a:cs typeface="Poppins Bold"/>
                <a:sym typeface="Poppins Bold"/>
              </a:rPr>
              <a:t>Riesgo y Seguridad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00162" y="3909193"/>
            <a:ext cx="7186612" cy="96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Pérdida de datos críticos, difícil trazabilidad y brechas de seguridad.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01225" y="3126283"/>
            <a:ext cx="7545942" cy="497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700" b="1">
                <a:solidFill>
                  <a:srgbClr val="F1F5F9"/>
                </a:solidFill>
                <a:latin typeface="Poppins Bold"/>
                <a:ea typeface="Poppins Bold"/>
                <a:cs typeface="Poppins Bold"/>
                <a:sym typeface="Poppins Bold"/>
              </a:rPr>
              <a:t>Ineficiencia Operativa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01225" y="3909193"/>
            <a:ext cx="7186612" cy="96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Horas perdidas buscando fichas y transcribiendo datos manualmente.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00162" y="7203801"/>
            <a:ext cx="7545942" cy="497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700" b="1">
                <a:solidFill>
                  <a:srgbClr val="F1F5F9"/>
                </a:solidFill>
                <a:latin typeface="Poppins Bold"/>
                <a:ea typeface="Poppins Bold"/>
                <a:cs typeface="Poppins Bold"/>
                <a:sym typeface="Poppins Bold"/>
              </a:rPr>
              <a:t>Decisiones Reactivas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00162" y="7986713"/>
            <a:ext cx="7186612" cy="96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Imposibilidad de ver tendencias. Actuamos cuando el problema ya ocurrió.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801225" y="7203801"/>
            <a:ext cx="7545942" cy="497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700" b="1">
                <a:solidFill>
                  <a:srgbClr val="F1F5F9"/>
                </a:solidFill>
                <a:latin typeface="Poppins Bold"/>
                <a:ea typeface="Poppins Bold"/>
                <a:cs typeface="Poppins Bold"/>
                <a:sym typeface="Poppins Bold"/>
              </a:rPr>
              <a:t>Comunicación Fragmentada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01225" y="7986713"/>
            <a:ext cx="7186612" cy="96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Coordinación informal con familiares que consume tiempo valioso.</a:t>
            </a:r>
          </a:p>
        </p:txBody>
      </p: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1300162" y="2411908"/>
            <a:ext cx="457200" cy="457200"/>
            <a:chOff x="0" y="0"/>
            <a:chExt cx="609600" cy="609600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3125"/>
              </a:stretch>
            </a:blipFill>
          </p:spPr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9801225" y="2411908"/>
            <a:ext cx="342900" cy="457200"/>
            <a:chOff x="0" y="0"/>
            <a:chExt cx="457200" cy="609600"/>
          </a:xfrm>
        </p:grpSpPr>
        <p:sp>
          <p:nvSpPr>
            <p:cNvPr id="23" name="Freeform 23" descr="image.png"/>
            <p:cNvSpPr/>
            <p:nvPr/>
          </p:nvSpPr>
          <p:spPr>
            <a:xfrm>
              <a:off x="0" y="0"/>
              <a:ext cx="457200" cy="609600"/>
            </a:xfrm>
            <a:custGeom>
              <a:avLst/>
              <a:gdLst/>
              <a:ahLst/>
              <a:cxnLst/>
              <a:rect l="l" t="t" r="r" b="b"/>
              <a:pathLst>
                <a:path w="457200" h="609600">
                  <a:moveTo>
                    <a:pt x="0" y="0"/>
                  </a:moveTo>
                  <a:lnTo>
                    <a:pt x="457200" y="0"/>
                  </a:lnTo>
                  <a:lnTo>
                    <a:pt x="4572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b="-3125"/>
              </a:stretch>
            </a:blipFill>
          </p:spPr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1300162" y="6489426"/>
            <a:ext cx="571500" cy="457200"/>
            <a:chOff x="0" y="0"/>
            <a:chExt cx="762000" cy="609600"/>
          </a:xfrm>
        </p:grpSpPr>
        <p:sp>
          <p:nvSpPr>
            <p:cNvPr id="25" name="Freeform 25" descr="image.png"/>
            <p:cNvSpPr/>
            <p:nvPr/>
          </p:nvSpPr>
          <p:spPr>
            <a:xfrm>
              <a:off x="0" y="0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0" y="0"/>
                  </a:moveTo>
                  <a:lnTo>
                    <a:pt x="762000" y="0"/>
                  </a:lnTo>
                  <a:lnTo>
                    <a:pt x="7620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b="-3125"/>
              </a:stretch>
            </a:blipFill>
          </p:spPr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9801225" y="6489426"/>
            <a:ext cx="571500" cy="457200"/>
            <a:chOff x="0" y="0"/>
            <a:chExt cx="762000" cy="609600"/>
          </a:xfrm>
        </p:grpSpPr>
        <p:sp>
          <p:nvSpPr>
            <p:cNvPr id="27" name="Freeform 27" descr="image.png"/>
            <p:cNvSpPr/>
            <p:nvPr/>
          </p:nvSpPr>
          <p:spPr>
            <a:xfrm>
              <a:off x="0" y="0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0" y="0"/>
                  </a:moveTo>
                  <a:lnTo>
                    <a:pt x="762000" y="0"/>
                  </a:lnTo>
                  <a:lnTo>
                    <a:pt x="7620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b="-3125"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1143000" y="472752"/>
            <a:ext cx="17102138" cy="881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2"/>
              </a:lnSpc>
            </a:pPr>
            <a:r>
              <a:rPr lang="en-US" sz="4725" b="1">
                <a:solidFill>
                  <a:srgbClr val="F1F5F9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Problemática Actual: "Muerte por Mil Cortes"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857250" y="634677"/>
            <a:ext cx="85725" cy="719955"/>
            <a:chOff x="0" y="0"/>
            <a:chExt cx="114300" cy="9599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4300" cy="959993"/>
            </a:xfrm>
            <a:custGeom>
              <a:avLst/>
              <a:gdLst/>
              <a:ahLst/>
              <a:cxnLst/>
              <a:rect l="l" t="t" r="r" b="b"/>
              <a:pathLst>
                <a:path w="114300" h="959993">
                  <a:moveTo>
                    <a:pt x="0" y="0"/>
                  </a:moveTo>
                  <a:lnTo>
                    <a:pt x="114300" y="0"/>
                  </a:lnTo>
                  <a:lnTo>
                    <a:pt x="114300" y="959993"/>
                  </a:lnTo>
                  <a:lnTo>
                    <a:pt x="0" y="959993"/>
                  </a:lnTo>
                  <a:close/>
                </a:path>
              </a:pathLst>
            </a:custGeom>
            <a:solidFill>
              <a:srgbClr val="EF444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31" name="Group 31"/>
          <p:cNvGrpSpPr>
            <a:grpSpLocks noChangeAspect="1"/>
          </p:cNvGrpSpPr>
          <p:nvPr/>
        </p:nvGrpSpPr>
        <p:grpSpPr>
          <a:xfrm>
            <a:off x="15586125" y="0"/>
            <a:ext cx="2701878" cy="990788"/>
            <a:chOff x="0" y="0"/>
            <a:chExt cx="3602504" cy="132105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602482" cy="1321054"/>
            </a:xfrm>
            <a:custGeom>
              <a:avLst/>
              <a:gdLst/>
              <a:ahLst/>
              <a:cxnLst/>
              <a:rect l="l" t="t" r="r" b="b"/>
              <a:pathLst>
                <a:path w="3602482" h="1321054">
                  <a:moveTo>
                    <a:pt x="0" y="0"/>
                  </a:moveTo>
                  <a:lnTo>
                    <a:pt x="3602482" y="0"/>
                  </a:lnTo>
                  <a:lnTo>
                    <a:pt x="3602482" y="1321054"/>
                  </a:lnTo>
                  <a:lnTo>
                    <a:pt x="0" y="1321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r="-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857250" y="4257452"/>
            <a:ext cx="5143500" cy="3086100"/>
            <a:chOff x="0" y="0"/>
            <a:chExt cx="6858000" cy="41148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6858000" cy="4114800"/>
            </a:xfrm>
            <a:custGeom>
              <a:avLst/>
              <a:gdLst/>
              <a:ahLst/>
              <a:cxnLst/>
              <a:rect l="l" t="t" r="r" b="b"/>
              <a:pathLst>
                <a:path w="6858000" h="4114800">
                  <a:moveTo>
                    <a:pt x="0" y="0"/>
                  </a:moveTo>
                  <a:lnTo>
                    <a:pt x="6858000" y="0"/>
                  </a:lnTo>
                  <a:lnTo>
                    <a:pt x="6858000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462"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6572250" y="4257452"/>
            <a:ext cx="5143500" cy="3086100"/>
            <a:chOff x="0" y="0"/>
            <a:chExt cx="6858000" cy="41148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6858000" cy="4114800"/>
            </a:xfrm>
            <a:custGeom>
              <a:avLst/>
              <a:gdLst/>
              <a:ahLst/>
              <a:cxnLst/>
              <a:rect l="l" t="t" r="r" b="b"/>
              <a:pathLst>
                <a:path w="6858000" h="4114800">
                  <a:moveTo>
                    <a:pt x="0" y="0"/>
                  </a:moveTo>
                  <a:lnTo>
                    <a:pt x="6858000" y="0"/>
                  </a:lnTo>
                  <a:lnTo>
                    <a:pt x="6858000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462"/>
              </a:stretch>
            </a:blip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2287250" y="4257452"/>
            <a:ext cx="5143500" cy="3086100"/>
            <a:chOff x="0" y="0"/>
            <a:chExt cx="6858000" cy="411480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6858000" cy="4114800"/>
            </a:xfrm>
            <a:custGeom>
              <a:avLst/>
              <a:gdLst/>
              <a:ahLst/>
              <a:cxnLst/>
              <a:rect l="l" t="t" r="r" b="b"/>
              <a:pathLst>
                <a:path w="6858000" h="4114800">
                  <a:moveTo>
                    <a:pt x="0" y="0"/>
                  </a:moveTo>
                  <a:lnTo>
                    <a:pt x="6858000" y="0"/>
                  </a:lnTo>
                  <a:lnTo>
                    <a:pt x="6858000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462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5950743" y="7772177"/>
            <a:ext cx="6386400" cy="454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025" i="1">
                <a:solidFill>
                  <a:srgbClr val="F1F5F9"/>
                </a:solidFill>
                <a:latin typeface="Inter Italics"/>
                <a:ea typeface="Inter Italics"/>
                <a:cs typeface="Inter Italics"/>
                <a:sym typeface="Inter Italics"/>
              </a:rPr>
              <a:t>Estimación basada en residencia San Luciano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00162" y="4614639"/>
            <a:ext cx="4257675" cy="180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>
                <a:solidFill>
                  <a:srgbClr val="14B8A6"/>
                </a:solidFill>
                <a:latin typeface="Poppins Bold"/>
                <a:ea typeface="Poppins Bold"/>
                <a:cs typeface="Poppins Bold"/>
                <a:sym typeface="Poppins Bold"/>
              </a:rPr>
              <a:t>20+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00162" y="6548214"/>
            <a:ext cx="4257675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Horas/Semana perdidas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15162" y="4614639"/>
            <a:ext cx="4257675" cy="180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>
                <a:solidFill>
                  <a:srgbClr val="14B8A6"/>
                </a:solidFill>
                <a:latin typeface="Poppins Bold"/>
                <a:ea typeface="Poppins Bold"/>
                <a:cs typeface="Poppins Bold"/>
                <a:sym typeface="Poppins Bold"/>
              </a:rPr>
              <a:t>40%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15162" y="6548214"/>
            <a:ext cx="4257675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Errores de transcripción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30162" y="4614639"/>
            <a:ext cx="4257675" cy="180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>
                <a:solidFill>
                  <a:srgbClr val="14B8A6"/>
                </a:solidFill>
                <a:latin typeface="Poppins Bold"/>
                <a:ea typeface="Poppins Bold"/>
                <a:cs typeface="Poppins Bold"/>
                <a:sym typeface="Poppins Bold"/>
              </a:rPr>
              <a:t>75%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30162" y="6548214"/>
            <a:ext cx="4257675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Meta de Eficiencia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3000" y="695325"/>
            <a:ext cx="17102138" cy="881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2"/>
              </a:lnSpc>
            </a:pPr>
            <a:r>
              <a:rPr lang="en-US" sz="4725" b="1">
                <a:solidFill>
                  <a:srgbClr val="F1F5F9"/>
                </a:solidFill>
                <a:latin typeface="Poppins Bold"/>
                <a:ea typeface="Poppins Bold"/>
                <a:cs typeface="Poppins Bold"/>
                <a:sym typeface="Poppins Bold"/>
              </a:rPr>
              <a:t>El Impacto en Números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57250" y="857250"/>
            <a:ext cx="85725" cy="719955"/>
            <a:chOff x="0" y="0"/>
            <a:chExt cx="114300" cy="95994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4300" cy="959993"/>
            </a:xfrm>
            <a:custGeom>
              <a:avLst/>
              <a:gdLst/>
              <a:ahLst/>
              <a:cxnLst/>
              <a:rect l="l" t="t" r="r" b="b"/>
              <a:pathLst>
                <a:path w="114300" h="959993">
                  <a:moveTo>
                    <a:pt x="0" y="0"/>
                  </a:moveTo>
                  <a:lnTo>
                    <a:pt x="114300" y="0"/>
                  </a:lnTo>
                  <a:lnTo>
                    <a:pt x="114300" y="959993"/>
                  </a:lnTo>
                  <a:lnTo>
                    <a:pt x="0" y="959993"/>
                  </a:lnTo>
                  <a:close/>
                </a:path>
              </a:pathLst>
            </a:custGeom>
            <a:solidFill>
              <a:srgbClr val="14B8A6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5636418" y="2110605"/>
            <a:ext cx="7300912" cy="729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2"/>
              </a:lnSpc>
            </a:pPr>
            <a:r>
              <a:rPr lang="en-US" sz="27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¿Dónde se va el tiempo de nuestro personal?</a:t>
            </a:r>
          </a:p>
        </p:txBody>
      </p: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15586125" y="0"/>
            <a:ext cx="2701878" cy="990788"/>
            <a:chOff x="0" y="0"/>
            <a:chExt cx="3602504" cy="13210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602482" cy="1321054"/>
            </a:xfrm>
            <a:custGeom>
              <a:avLst/>
              <a:gdLst/>
              <a:ahLst/>
              <a:cxnLst/>
              <a:rect l="l" t="t" r="r" b="b"/>
              <a:pathLst>
                <a:path w="3602482" h="1321054">
                  <a:moveTo>
                    <a:pt x="0" y="0"/>
                  </a:moveTo>
                  <a:lnTo>
                    <a:pt x="3602482" y="0"/>
                  </a:lnTo>
                  <a:lnTo>
                    <a:pt x="3602482" y="1321054"/>
                  </a:lnTo>
                  <a:lnTo>
                    <a:pt x="0" y="1321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308937" y="2118637"/>
            <a:ext cx="7466850" cy="1666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78"/>
              </a:lnSpc>
            </a:pPr>
            <a:r>
              <a:rPr lang="en-US" sz="4500" b="1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Presentamos "Residencia San Luciano"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43000" y="2303412"/>
            <a:ext cx="85725" cy="1439912"/>
            <a:chOff x="0" y="0"/>
            <a:chExt cx="114300" cy="191988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4300" cy="1919859"/>
            </a:xfrm>
            <a:custGeom>
              <a:avLst/>
              <a:gdLst/>
              <a:ahLst/>
              <a:cxnLst/>
              <a:rect l="l" t="t" r="r" b="b"/>
              <a:pathLst>
                <a:path w="114300" h="1919859">
                  <a:moveTo>
                    <a:pt x="0" y="0"/>
                  </a:moveTo>
                  <a:lnTo>
                    <a:pt x="114300" y="0"/>
                  </a:lnTo>
                  <a:lnTo>
                    <a:pt x="114300" y="1919859"/>
                  </a:lnTo>
                  <a:lnTo>
                    <a:pt x="0" y="1919859"/>
                  </a:lnTo>
                  <a:close/>
                </a:path>
              </a:pathLst>
            </a:custGeom>
            <a:solidFill>
              <a:srgbClr val="14B8A6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1143000" y="4229100"/>
            <a:ext cx="7200900" cy="50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700" b="1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Plataforma Digital Automatizada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3000" y="5012010"/>
            <a:ext cx="6858000" cy="96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Centraliza, simplifica y asegura la gestión de la residencia.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3000" y="6349230"/>
            <a:ext cx="6858000" cy="137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Una solución innovadora diseñada para optimizar cada aspecto del cuidado y la administración, desde la ficha clínica hasta la comunicación con las familias.</a:t>
            </a:r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9144000" y="0"/>
            <a:ext cx="9144000" cy="10287000"/>
            <a:chOff x="0" y="0"/>
            <a:chExt cx="12192000" cy="137160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12192000" cy="13716000"/>
            </a:xfrm>
            <a:custGeom>
              <a:avLst/>
              <a:gdLst/>
              <a:ahLst/>
              <a:cxnLst/>
              <a:rect l="l" t="t" r="r" b="b"/>
              <a:pathLst>
                <a:path w="12192000" h="13716000">
                  <a:moveTo>
                    <a:pt x="0" y="0"/>
                  </a:moveTo>
                  <a:lnTo>
                    <a:pt x="12192000" y="0"/>
                  </a:lnTo>
                  <a:lnTo>
                    <a:pt x="12192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5586125" y="0"/>
            <a:ext cx="2701878" cy="990788"/>
            <a:chOff x="0" y="0"/>
            <a:chExt cx="3602504" cy="13210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602482" cy="1321054"/>
            </a:xfrm>
            <a:custGeom>
              <a:avLst/>
              <a:gdLst/>
              <a:ahLst/>
              <a:cxnLst/>
              <a:rect l="l" t="t" r="r" b="b"/>
              <a:pathLst>
                <a:path w="3602482" h="1321054">
                  <a:moveTo>
                    <a:pt x="0" y="0"/>
                  </a:moveTo>
                  <a:lnTo>
                    <a:pt x="3602482" y="0"/>
                  </a:lnTo>
                  <a:lnTo>
                    <a:pt x="3602482" y="1321054"/>
                  </a:lnTo>
                  <a:lnTo>
                    <a:pt x="0" y="1321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9525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57250" y="2811735"/>
          <a:ext cx="16554450" cy="5943600"/>
        </p:xfrm>
        <a:graphic>
          <a:graphicData uri="http://schemas.openxmlformats.org/drawingml/2006/table">
            <a:tbl>
              <a:tblPr/>
              <a:tblGrid>
                <a:gridCol w="85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0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90600"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1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Dolor (Sistema en Papel)</a:t>
                      </a:r>
                      <a:endParaRPr lang="en-US" sz="1100"/>
                    </a:p>
                  </a:txBody>
                  <a:tcPr marL="125677" marR="125677" marT="125677" marB="1256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 b="1">
                          <a:solidFill>
                            <a:srgbClr val="33415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Solución (Plataforma web)</a:t>
                      </a:r>
                      <a:endParaRPr lang="en-US" sz="1100"/>
                    </a:p>
                  </a:txBody>
                  <a:tcPr marL="125677" marR="125677" marT="125677" marB="1256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Fichas perdidas o ilegibles</a:t>
                      </a:r>
                      <a:endParaRPr lang="en-US" sz="1100"/>
                    </a:p>
                  </a:txBody>
                  <a:tcPr marL="125677" marR="125677" marT="125677" marB="1256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Ficha digital única y segura</a:t>
                      </a:r>
                      <a:endParaRPr lang="en-US" sz="1100"/>
                    </a:p>
                  </a:txBody>
                  <a:tcPr marL="125677" marR="125677" marT="125677" marB="1256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Comunicación lenta con familiares</a:t>
                      </a:r>
                      <a:endParaRPr lang="en-US" sz="1100"/>
                    </a:p>
                  </a:txBody>
                  <a:tcPr marL="125677" marR="125677" marT="125677" marB="1256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Portal de visitas y notificaciones</a:t>
                      </a:r>
                      <a:endParaRPr lang="en-US" sz="1100"/>
                    </a:p>
                  </a:txBody>
                  <a:tcPr marL="125677" marR="125677" marT="125677" marB="1256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Sin visión global del estado</a:t>
                      </a:r>
                      <a:endParaRPr lang="en-US" sz="1100"/>
                    </a:p>
                  </a:txBody>
                  <a:tcPr marL="125677" marR="125677" marT="125677" marB="1256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Dashboard con alertas en tiempo real</a:t>
                      </a:r>
                      <a:endParaRPr lang="en-US" sz="1100"/>
                    </a:p>
                  </a:txBody>
                  <a:tcPr marL="125677" marR="125677" marT="125677" marB="1256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Registro manual y tedioso</a:t>
                      </a:r>
                      <a:endParaRPr lang="en-US" sz="1100"/>
                    </a:p>
                  </a:txBody>
                  <a:tcPr marL="125677" marR="125677" marT="125677" marB="1256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Registro móvil en segundos</a:t>
                      </a:r>
                      <a:endParaRPr lang="en-US" sz="1100"/>
                    </a:p>
                  </a:txBody>
                  <a:tcPr marL="125677" marR="125677" marT="125677" marB="1256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Dificultad en seguimiento de medicamentos</a:t>
                      </a:r>
                      <a:endParaRPr lang="en-US" sz="1100"/>
                    </a:p>
                  </a:txBody>
                  <a:tcPr marL="125677" marR="125677" marT="125677" marB="1256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430"/>
                        </a:lnSpc>
                        <a:defRPr/>
                      </a:pPr>
                      <a:r>
                        <a:rPr lang="en-US" sz="2025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Módulo de medicación con alertas</a:t>
                      </a:r>
                      <a:endParaRPr lang="en-US" sz="1100"/>
                    </a:p>
                  </a:txBody>
                  <a:tcPr marL="125677" marR="125677" marT="125677" marB="125677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" name="Group 5"/>
          <p:cNvGrpSpPr/>
          <p:nvPr/>
        </p:nvGrpSpPr>
        <p:grpSpPr>
          <a:xfrm>
            <a:off x="857250" y="4770462"/>
            <a:ext cx="8585224" cy="14288"/>
            <a:chOff x="0" y="0"/>
            <a:chExt cx="11446966" cy="190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447018" cy="19050"/>
            </a:xfrm>
            <a:custGeom>
              <a:avLst/>
              <a:gdLst/>
              <a:ahLst/>
              <a:cxnLst/>
              <a:rect l="l" t="t" r="r" b="b"/>
              <a:pathLst>
                <a:path w="11447018" h="19050">
                  <a:moveTo>
                    <a:pt x="0" y="0"/>
                  </a:moveTo>
                  <a:lnTo>
                    <a:pt x="11447018" y="0"/>
                  </a:lnTo>
                  <a:lnTo>
                    <a:pt x="1144701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9442474" y="4770462"/>
            <a:ext cx="7988274" cy="14288"/>
            <a:chOff x="0" y="0"/>
            <a:chExt cx="10651032" cy="190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650982" cy="19050"/>
            </a:xfrm>
            <a:custGeom>
              <a:avLst/>
              <a:gdLst/>
              <a:ahLst/>
              <a:cxnLst/>
              <a:rect l="l" t="t" r="r" b="b"/>
              <a:pathLst>
                <a:path w="10650982" h="19050">
                  <a:moveTo>
                    <a:pt x="0" y="0"/>
                  </a:moveTo>
                  <a:lnTo>
                    <a:pt x="10650982" y="0"/>
                  </a:lnTo>
                  <a:lnTo>
                    <a:pt x="1065098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857250" y="5767684"/>
            <a:ext cx="8585224" cy="14288"/>
            <a:chOff x="0" y="0"/>
            <a:chExt cx="11446966" cy="190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47018" cy="19050"/>
            </a:xfrm>
            <a:custGeom>
              <a:avLst/>
              <a:gdLst/>
              <a:ahLst/>
              <a:cxnLst/>
              <a:rect l="l" t="t" r="r" b="b"/>
              <a:pathLst>
                <a:path w="11447018" h="19050">
                  <a:moveTo>
                    <a:pt x="0" y="0"/>
                  </a:moveTo>
                  <a:lnTo>
                    <a:pt x="11447018" y="0"/>
                  </a:lnTo>
                  <a:lnTo>
                    <a:pt x="1144701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9442474" y="5767684"/>
            <a:ext cx="7988274" cy="14288"/>
            <a:chOff x="0" y="0"/>
            <a:chExt cx="10651032" cy="190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50982" cy="19050"/>
            </a:xfrm>
            <a:custGeom>
              <a:avLst/>
              <a:gdLst/>
              <a:ahLst/>
              <a:cxnLst/>
              <a:rect l="l" t="t" r="r" b="b"/>
              <a:pathLst>
                <a:path w="10650982" h="19050">
                  <a:moveTo>
                    <a:pt x="0" y="0"/>
                  </a:moveTo>
                  <a:lnTo>
                    <a:pt x="10650982" y="0"/>
                  </a:lnTo>
                  <a:lnTo>
                    <a:pt x="1065098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857250" y="6764907"/>
            <a:ext cx="8585224" cy="14288"/>
            <a:chOff x="0" y="0"/>
            <a:chExt cx="11446966" cy="190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447018" cy="19050"/>
            </a:xfrm>
            <a:custGeom>
              <a:avLst/>
              <a:gdLst/>
              <a:ahLst/>
              <a:cxnLst/>
              <a:rect l="l" t="t" r="r" b="b"/>
              <a:pathLst>
                <a:path w="11447018" h="19050">
                  <a:moveTo>
                    <a:pt x="0" y="0"/>
                  </a:moveTo>
                  <a:lnTo>
                    <a:pt x="11447018" y="0"/>
                  </a:lnTo>
                  <a:lnTo>
                    <a:pt x="1144701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9442474" y="6764907"/>
            <a:ext cx="7988274" cy="14288"/>
            <a:chOff x="0" y="0"/>
            <a:chExt cx="10651032" cy="190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650982" cy="19050"/>
            </a:xfrm>
            <a:custGeom>
              <a:avLst/>
              <a:gdLst/>
              <a:ahLst/>
              <a:cxnLst/>
              <a:rect l="l" t="t" r="r" b="b"/>
              <a:pathLst>
                <a:path w="10650982" h="19050">
                  <a:moveTo>
                    <a:pt x="0" y="0"/>
                  </a:moveTo>
                  <a:lnTo>
                    <a:pt x="10650982" y="0"/>
                  </a:lnTo>
                  <a:lnTo>
                    <a:pt x="1065098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857250" y="7762130"/>
            <a:ext cx="8585224" cy="14288"/>
            <a:chOff x="0" y="0"/>
            <a:chExt cx="11446966" cy="190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447018" cy="19050"/>
            </a:xfrm>
            <a:custGeom>
              <a:avLst/>
              <a:gdLst/>
              <a:ahLst/>
              <a:cxnLst/>
              <a:rect l="l" t="t" r="r" b="b"/>
              <a:pathLst>
                <a:path w="11447018" h="19050">
                  <a:moveTo>
                    <a:pt x="0" y="0"/>
                  </a:moveTo>
                  <a:lnTo>
                    <a:pt x="11447018" y="0"/>
                  </a:lnTo>
                  <a:lnTo>
                    <a:pt x="11447018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9442474" y="7762130"/>
            <a:ext cx="7988274" cy="14288"/>
            <a:chOff x="0" y="0"/>
            <a:chExt cx="10651032" cy="190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650982" cy="19050"/>
            </a:xfrm>
            <a:custGeom>
              <a:avLst/>
              <a:gdLst/>
              <a:ahLst/>
              <a:cxnLst/>
              <a:rect l="l" t="t" r="r" b="b"/>
              <a:pathLst>
                <a:path w="10650982" h="19050">
                  <a:moveTo>
                    <a:pt x="0" y="0"/>
                  </a:moveTo>
                  <a:lnTo>
                    <a:pt x="10650982" y="0"/>
                  </a:lnTo>
                  <a:lnTo>
                    <a:pt x="10650982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E2E8F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12891895" y="4170387"/>
            <a:ext cx="228600" cy="257175"/>
            <a:chOff x="0" y="0"/>
            <a:chExt cx="304800" cy="342900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304800" cy="342900"/>
            </a:xfrm>
            <a:custGeom>
              <a:avLst/>
              <a:gdLst/>
              <a:ahLst/>
              <a:cxnLst/>
              <a:rect l="l" t="t" r="r" b="b"/>
              <a:pathLst>
                <a:path w="304800" h="342900">
                  <a:moveTo>
                    <a:pt x="0" y="0"/>
                  </a:moveTo>
                  <a:lnTo>
                    <a:pt x="304800" y="0"/>
                  </a:lnTo>
                  <a:lnTo>
                    <a:pt x="3048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657"/>
              </a:stretch>
            </a:blipFill>
          </p:spPr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3436612" y="5147630"/>
            <a:ext cx="228600" cy="257175"/>
            <a:chOff x="0" y="0"/>
            <a:chExt cx="304800" cy="342900"/>
          </a:xfrm>
        </p:grpSpPr>
        <p:sp>
          <p:nvSpPr>
            <p:cNvPr id="24" name="Freeform 24" descr="image.png"/>
            <p:cNvSpPr/>
            <p:nvPr/>
          </p:nvSpPr>
          <p:spPr>
            <a:xfrm>
              <a:off x="0" y="0"/>
              <a:ext cx="304800" cy="342900"/>
            </a:xfrm>
            <a:custGeom>
              <a:avLst/>
              <a:gdLst/>
              <a:ahLst/>
              <a:cxnLst/>
              <a:rect l="l" t="t" r="r" b="b"/>
              <a:pathLst>
                <a:path w="304800" h="342900">
                  <a:moveTo>
                    <a:pt x="0" y="0"/>
                  </a:moveTo>
                  <a:lnTo>
                    <a:pt x="304800" y="0"/>
                  </a:lnTo>
                  <a:lnTo>
                    <a:pt x="3048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657"/>
              </a:stretch>
            </a:blipFill>
          </p:spPr>
        </p:sp>
      </p:grpSp>
      <p:grpSp>
        <p:nvGrpSpPr>
          <p:cNvPr id="25" name="Group 25"/>
          <p:cNvGrpSpPr>
            <a:grpSpLocks noChangeAspect="1"/>
          </p:cNvGrpSpPr>
          <p:nvPr/>
        </p:nvGrpSpPr>
        <p:grpSpPr>
          <a:xfrm>
            <a:off x="14131542" y="6145782"/>
            <a:ext cx="228600" cy="257175"/>
            <a:chOff x="0" y="0"/>
            <a:chExt cx="304800" cy="342900"/>
          </a:xfrm>
        </p:grpSpPr>
        <p:sp>
          <p:nvSpPr>
            <p:cNvPr id="26" name="Freeform 26" descr="image.png"/>
            <p:cNvSpPr/>
            <p:nvPr/>
          </p:nvSpPr>
          <p:spPr>
            <a:xfrm>
              <a:off x="0" y="0"/>
              <a:ext cx="304800" cy="342900"/>
            </a:xfrm>
            <a:custGeom>
              <a:avLst/>
              <a:gdLst/>
              <a:ahLst/>
              <a:cxnLst/>
              <a:rect l="l" t="t" r="r" b="b"/>
              <a:pathLst>
                <a:path w="304800" h="342900">
                  <a:moveTo>
                    <a:pt x="0" y="0"/>
                  </a:moveTo>
                  <a:lnTo>
                    <a:pt x="304800" y="0"/>
                  </a:lnTo>
                  <a:lnTo>
                    <a:pt x="3048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657"/>
              </a:stretch>
            </a:blipFill>
          </p:spPr>
        </p:sp>
      </p:grp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13006195" y="7122094"/>
            <a:ext cx="228600" cy="257175"/>
            <a:chOff x="0" y="0"/>
            <a:chExt cx="304800" cy="342900"/>
          </a:xfrm>
        </p:grpSpPr>
        <p:sp>
          <p:nvSpPr>
            <p:cNvPr id="28" name="Freeform 28" descr="image.png"/>
            <p:cNvSpPr/>
            <p:nvPr/>
          </p:nvSpPr>
          <p:spPr>
            <a:xfrm>
              <a:off x="0" y="0"/>
              <a:ext cx="304800" cy="342900"/>
            </a:xfrm>
            <a:custGeom>
              <a:avLst/>
              <a:gdLst/>
              <a:ahLst/>
              <a:cxnLst/>
              <a:rect l="l" t="t" r="r" b="b"/>
              <a:pathLst>
                <a:path w="304800" h="342900">
                  <a:moveTo>
                    <a:pt x="0" y="0"/>
                  </a:moveTo>
                  <a:lnTo>
                    <a:pt x="304800" y="0"/>
                  </a:lnTo>
                  <a:lnTo>
                    <a:pt x="3048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657"/>
              </a:stretch>
            </a:blipFill>
          </p:spPr>
        </p:sp>
      </p:grpSp>
      <p:grpSp>
        <p:nvGrpSpPr>
          <p:cNvPr id="29" name="Group 29"/>
          <p:cNvGrpSpPr>
            <a:grpSpLocks noChangeAspect="1"/>
          </p:cNvGrpSpPr>
          <p:nvPr/>
        </p:nvGrpSpPr>
        <p:grpSpPr>
          <a:xfrm>
            <a:off x="13797201" y="8140749"/>
            <a:ext cx="228600" cy="257175"/>
            <a:chOff x="0" y="0"/>
            <a:chExt cx="304800" cy="342900"/>
          </a:xfrm>
        </p:grpSpPr>
        <p:sp>
          <p:nvSpPr>
            <p:cNvPr id="30" name="Freeform 30" descr="image.png"/>
            <p:cNvSpPr/>
            <p:nvPr/>
          </p:nvSpPr>
          <p:spPr>
            <a:xfrm>
              <a:off x="0" y="0"/>
              <a:ext cx="304800" cy="342900"/>
            </a:xfrm>
            <a:custGeom>
              <a:avLst/>
              <a:gdLst/>
              <a:ahLst/>
              <a:cxnLst/>
              <a:rect l="l" t="t" r="r" b="b"/>
              <a:pathLst>
                <a:path w="304800" h="342900">
                  <a:moveTo>
                    <a:pt x="0" y="0"/>
                  </a:moveTo>
                  <a:lnTo>
                    <a:pt x="304800" y="0"/>
                  </a:lnTo>
                  <a:lnTo>
                    <a:pt x="304800" y="342900"/>
                  </a:lnTo>
                  <a:lnTo>
                    <a:pt x="0" y="342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657"/>
              </a:stretch>
            </a:blipFill>
          </p:spPr>
        </p:sp>
      </p:grpSp>
      <p:sp>
        <p:nvSpPr>
          <p:cNvPr id="31" name="TextBox 31"/>
          <p:cNvSpPr txBox="1"/>
          <p:nvPr/>
        </p:nvSpPr>
        <p:spPr>
          <a:xfrm>
            <a:off x="1143000" y="695325"/>
            <a:ext cx="17102138" cy="881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2"/>
              </a:lnSpc>
            </a:pPr>
            <a:r>
              <a:rPr lang="en-US" sz="4725" b="1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De Problemas a Soluciones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857250" y="857250"/>
            <a:ext cx="85725" cy="719955"/>
            <a:chOff x="0" y="0"/>
            <a:chExt cx="114300" cy="9599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14300" cy="959993"/>
            </a:xfrm>
            <a:custGeom>
              <a:avLst/>
              <a:gdLst/>
              <a:ahLst/>
              <a:cxnLst/>
              <a:rect l="l" t="t" r="r" b="b"/>
              <a:pathLst>
                <a:path w="114300" h="959993">
                  <a:moveTo>
                    <a:pt x="0" y="0"/>
                  </a:moveTo>
                  <a:lnTo>
                    <a:pt x="114300" y="0"/>
                  </a:lnTo>
                  <a:lnTo>
                    <a:pt x="114300" y="959993"/>
                  </a:lnTo>
                  <a:lnTo>
                    <a:pt x="0" y="959993"/>
                  </a:lnTo>
                  <a:close/>
                </a:path>
              </a:pathLst>
            </a:custGeom>
            <a:solidFill>
              <a:srgbClr val="14B8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34" name="Group 34"/>
          <p:cNvGrpSpPr>
            <a:grpSpLocks noChangeAspect="1"/>
          </p:cNvGrpSpPr>
          <p:nvPr/>
        </p:nvGrpSpPr>
        <p:grpSpPr>
          <a:xfrm>
            <a:off x="15586125" y="0"/>
            <a:ext cx="2701878" cy="990788"/>
            <a:chOff x="0" y="0"/>
            <a:chExt cx="3602504" cy="132105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602482" cy="1321054"/>
            </a:xfrm>
            <a:custGeom>
              <a:avLst/>
              <a:gdLst/>
              <a:ahLst/>
              <a:cxnLst/>
              <a:rect l="l" t="t" r="r" b="b"/>
              <a:pathLst>
                <a:path w="3602482" h="1321054">
                  <a:moveTo>
                    <a:pt x="0" y="0"/>
                  </a:moveTo>
                  <a:lnTo>
                    <a:pt x="3602482" y="0"/>
                  </a:lnTo>
                  <a:lnTo>
                    <a:pt x="3602482" y="1321054"/>
                  </a:lnTo>
                  <a:lnTo>
                    <a:pt x="0" y="1321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1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80370" b="-68037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5900" y="0"/>
            <a:ext cx="15994778" cy="9879623"/>
          </a:xfrm>
          <a:custGeom>
            <a:avLst/>
            <a:gdLst/>
            <a:ahLst/>
            <a:cxnLst/>
            <a:rect l="l" t="t" r="r" b="b"/>
            <a:pathLst>
              <a:path w="15994778" h="9879623">
                <a:moveTo>
                  <a:pt x="0" y="0"/>
                </a:moveTo>
                <a:lnTo>
                  <a:pt x="15994778" y="0"/>
                </a:lnTo>
                <a:lnTo>
                  <a:pt x="15994778" y="9879623"/>
                </a:lnTo>
                <a:lnTo>
                  <a:pt x="0" y="9879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550" b="-6991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857250" y="3553346"/>
            <a:ext cx="5238823" cy="4471764"/>
            <a:chOff x="0" y="0"/>
            <a:chExt cx="6985098" cy="5962352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6985127" cy="5962396"/>
            </a:xfrm>
            <a:custGeom>
              <a:avLst/>
              <a:gdLst/>
              <a:ahLst/>
              <a:cxnLst/>
              <a:rect l="l" t="t" r="r" b="b"/>
              <a:pathLst>
                <a:path w="6985127" h="5962396">
                  <a:moveTo>
                    <a:pt x="0" y="0"/>
                  </a:moveTo>
                  <a:lnTo>
                    <a:pt x="6985127" y="0"/>
                  </a:lnTo>
                  <a:lnTo>
                    <a:pt x="6985127" y="5962396"/>
                  </a:lnTo>
                  <a:lnTo>
                    <a:pt x="0" y="5962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234"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6524698" y="3553346"/>
            <a:ext cx="5238823" cy="4471764"/>
            <a:chOff x="0" y="0"/>
            <a:chExt cx="6985098" cy="5962352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6985127" cy="5962396"/>
            </a:xfrm>
            <a:custGeom>
              <a:avLst/>
              <a:gdLst/>
              <a:ahLst/>
              <a:cxnLst/>
              <a:rect l="l" t="t" r="r" b="b"/>
              <a:pathLst>
                <a:path w="6985127" h="5962396">
                  <a:moveTo>
                    <a:pt x="0" y="0"/>
                  </a:moveTo>
                  <a:lnTo>
                    <a:pt x="6985127" y="0"/>
                  </a:lnTo>
                  <a:lnTo>
                    <a:pt x="6985127" y="5962396"/>
                  </a:lnTo>
                  <a:lnTo>
                    <a:pt x="0" y="5962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37"/>
              </a:stretch>
            </a:blip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2192148" y="3553346"/>
            <a:ext cx="5238823" cy="4471764"/>
            <a:chOff x="0" y="0"/>
            <a:chExt cx="6985098" cy="5962352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6985127" cy="5962396"/>
            </a:xfrm>
            <a:custGeom>
              <a:avLst/>
              <a:gdLst/>
              <a:ahLst/>
              <a:cxnLst/>
              <a:rect l="l" t="t" r="r" b="b"/>
              <a:pathLst>
                <a:path w="6985127" h="5962396">
                  <a:moveTo>
                    <a:pt x="0" y="0"/>
                  </a:moveTo>
                  <a:lnTo>
                    <a:pt x="6985127" y="0"/>
                  </a:lnTo>
                  <a:lnTo>
                    <a:pt x="6985127" y="5962396"/>
                  </a:lnTo>
                  <a:lnTo>
                    <a:pt x="0" y="5962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37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300162" y="4753495"/>
            <a:ext cx="4570648" cy="497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700" b="1">
                <a:solidFill>
                  <a:srgbClr val="F1F5F9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00162" y="5536405"/>
            <a:ext cx="4352998" cy="178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Interfaz desarrollada en </a:t>
            </a:r>
            <a:r>
              <a:rPr lang="en-US" sz="2025" b="1">
                <a:solidFill>
                  <a:srgbClr val="F1F5F9"/>
                </a:solidFill>
                <a:latin typeface="Inter Bold"/>
                <a:ea typeface="Inter Bold"/>
                <a:cs typeface="Inter Bold"/>
                <a:sym typeface="Inter Bold"/>
              </a:rPr>
              <a:t>React</a:t>
            </a:r>
            <a:r>
              <a:rPr lang="en-US" sz="2025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. Estructura de componentes modular y responsiva para tablets y escritorio.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67611" y="4753495"/>
            <a:ext cx="4570648" cy="497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700" b="1">
                <a:solidFill>
                  <a:srgbClr val="F1F5F9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 &amp; Flujo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67611" y="5536405"/>
            <a:ext cx="4352998" cy="137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Automatización con </a:t>
            </a:r>
            <a:r>
              <a:rPr lang="en-US" sz="2025" b="1">
                <a:solidFill>
                  <a:srgbClr val="F1F5F9"/>
                </a:solidFill>
                <a:latin typeface="Inter Bold"/>
                <a:ea typeface="Inter Bold"/>
                <a:cs typeface="Inter Bold"/>
                <a:sym typeface="Inter Bold"/>
              </a:rPr>
              <a:t>n8n</a:t>
            </a:r>
            <a:r>
              <a:rPr lang="en-US" sz="2025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. Gestión eficiente de lógica de negocio y APIs RESTful.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635061" y="4753495"/>
            <a:ext cx="4570650" cy="50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700" b="1">
                <a:solidFill>
                  <a:srgbClr val="F1F5F9"/>
                </a:solidFill>
                <a:latin typeface="Poppins Bold"/>
                <a:ea typeface="Poppins Bold"/>
                <a:cs typeface="Poppins Bold"/>
                <a:sym typeface="Poppins Bold"/>
              </a:rPr>
              <a:t>Hostgator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635061" y="5536405"/>
            <a:ext cx="4352850" cy="145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025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El servicio de hosting integra servidor VPS, base de datos, la plataforma n8n y el dominio.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300162" y="4039120"/>
            <a:ext cx="457200" cy="457200"/>
            <a:chOff x="0" y="0"/>
            <a:chExt cx="609600" cy="6096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3125"/>
              </a:stretch>
            </a:blip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6967611" y="4039120"/>
            <a:ext cx="571500" cy="457200"/>
            <a:chOff x="0" y="0"/>
            <a:chExt cx="762000" cy="60960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0" y="0"/>
                  </a:moveTo>
                  <a:lnTo>
                    <a:pt x="762000" y="0"/>
                  </a:lnTo>
                  <a:lnTo>
                    <a:pt x="7620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609"/>
              </a:stretch>
            </a:blipFill>
          </p:spPr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12635061" y="4039120"/>
            <a:ext cx="457200" cy="457200"/>
            <a:chOff x="0" y="0"/>
            <a:chExt cx="609600" cy="609600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1143000" y="695325"/>
            <a:ext cx="17102138" cy="881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2"/>
              </a:lnSpc>
            </a:pPr>
            <a:r>
              <a:rPr lang="en-US" sz="4725" b="1">
                <a:solidFill>
                  <a:srgbClr val="F1F5F9"/>
                </a:solidFill>
                <a:latin typeface="Poppins Bold"/>
                <a:ea typeface="Poppins Bold"/>
                <a:cs typeface="Poppins Bold"/>
                <a:sym typeface="Poppins Bold"/>
              </a:rPr>
              <a:t>Arquitectura y Tecnologías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857250" y="857250"/>
            <a:ext cx="85725" cy="719955"/>
            <a:chOff x="0" y="0"/>
            <a:chExt cx="114300" cy="9599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4300" cy="959993"/>
            </a:xfrm>
            <a:custGeom>
              <a:avLst/>
              <a:gdLst/>
              <a:ahLst/>
              <a:cxnLst/>
              <a:rect l="l" t="t" r="r" b="b"/>
              <a:pathLst>
                <a:path w="114300" h="959993">
                  <a:moveTo>
                    <a:pt x="0" y="0"/>
                  </a:moveTo>
                  <a:lnTo>
                    <a:pt x="114300" y="0"/>
                  </a:lnTo>
                  <a:lnTo>
                    <a:pt x="114300" y="959993"/>
                  </a:lnTo>
                  <a:lnTo>
                    <a:pt x="0" y="959993"/>
                  </a:lnTo>
                  <a:close/>
                </a:path>
              </a:pathLst>
            </a:custGeom>
            <a:solidFill>
              <a:srgbClr val="14B8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5" name="Group 25"/>
          <p:cNvGrpSpPr>
            <a:grpSpLocks noChangeAspect="1"/>
          </p:cNvGrpSpPr>
          <p:nvPr/>
        </p:nvGrpSpPr>
        <p:grpSpPr>
          <a:xfrm>
            <a:off x="15586125" y="0"/>
            <a:ext cx="2701878" cy="990788"/>
            <a:chOff x="0" y="0"/>
            <a:chExt cx="3602504" cy="13210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602482" cy="1321054"/>
            </a:xfrm>
            <a:custGeom>
              <a:avLst/>
              <a:gdLst/>
              <a:ahLst/>
              <a:cxnLst/>
              <a:rect l="l" t="t" r="r" b="b"/>
              <a:pathLst>
                <a:path w="3602482" h="1321054">
                  <a:moveTo>
                    <a:pt x="0" y="0"/>
                  </a:moveTo>
                  <a:lnTo>
                    <a:pt x="3602482" y="0"/>
                  </a:lnTo>
                  <a:lnTo>
                    <a:pt x="3602482" y="1321054"/>
                  </a:lnTo>
                  <a:lnTo>
                    <a:pt x="0" y="1321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1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4436268" y="2436040"/>
            <a:ext cx="9415462" cy="5734868"/>
            <a:chOff x="0" y="0"/>
            <a:chExt cx="12553950" cy="764649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2553950" cy="7646543"/>
            </a:xfrm>
            <a:custGeom>
              <a:avLst/>
              <a:gdLst/>
              <a:ahLst/>
              <a:cxnLst/>
              <a:rect l="l" t="t" r="r" b="b"/>
              <a:pathLst>
                <a:path w="12553950" h="7646543">
                  <a:moveTo>
                    <a:pt x="0" y="0"/>
                  </a:moveTo>
                  <a:lnTo>
                    <a:pt x="12553950" y="0"/>
                  </a:lnTo>
                  <a:lnTo>
                    <a:pt x="12553950" y="7646543"/>
                  </a:lnTo>
                  <a:lnTo>
                    <a:pt x="0" y="7646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172268" y="4856186"/>
            <a:ext cx="3943350" cy="985838"/>
            <a:chOff x="0" y="0"/>
            <a:chExt cx="5257800" cy="1314450"/>
          </a:xfrm>
        </p:grpSpPr>
        <p:sp>
          <p:nvSpPr>
            <p:cNvPr id="7" name="Freeform 7" descr="image.png">
              <a:hlinkClick r:id="rId5" tooltip="http://hogarsanlucianoo.com"/>
            </p:cNvPr>
            <p:cNvSpPr/>
            <p:nvPr/>
          </p:nvSpPr>
          <p:spPr>
            <a:xfrm>
              <a:off x="0" y="0"/>
              <a:ext cx="5257800" cy="1314450"/>
            </a:xfrm>
            <a:custGeom>
              <a:avLst/>
              <a:gdLst/>
              <a:ahLst/>
              <a:cxnLst/>
              <a:rect l="l" t="t" r="r" b="b"/>
              <a:pathLst>
                <a:path w="5257800" h="1314450">
                  <a:moveTo>
                    <a:pt x="0" y="0"/>
                  </a:moveTo>
                  <a:lnTo>
                    <a:pt x="5257800" y="0"/>
                  </a:lnTo>
                  <a:lnTo>
                    <a:pt x="5257800" y="1314450"/>
                  </a:lnTo>
                  <a:lnTo>
                    <a:pt x="0" y="131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1449"/>
              </a:stretch>
            </a:blip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5586125" y="0"/>
            <a:ext cx="2701878" cy="990788"/>
            <a:chOff x="0" y="0"/>
            <a:chExt cx="3602504" cy="13210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02482" cy="1321054"/>
            </a:xfrm>
            <a:custGeom>
              <a:avLst/>
              <a:gdLst/>
              <a:ahLst/>
              <a:cxnLst/>
              <a:rect l="l" t="t" r="r" b="b"/>
              <a:pathLst>
                <a:path w="3602482" h="1321054">
                  <a:moveTo>
                    <a:pt x="0" y="0"/>
                  </a:moveTo>
                  <a:lnTo>
                    <a:pt x="3602482" y="0"/>
                  </a:lnTo>
                  <a:lnTo>
                    <a:pt x="3602482" y="1321054"/>
                  </a:lnTo>
                  <a:lnTo>
                    <a:pt x="0" y="1321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5293518" y="3658938"/>
            <a:ext cx="7700962" cy="55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02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El sistema se encuentra desplegado y accesible públicamente.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93518" y="6342087"/>
            <a:ext cx="7700850" cy="454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02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CRM Residencia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00994" y="3047478"/>
            <a:ext cx="8086050" cy="50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7"/>
              </a:lnSpc>
            </a:pPr>
            <a:r>
              <a:rPr lang="en-US" sz="27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Plataforma Operativa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1600" y="2551595"/>
            <a:ext cx="8022600" cy="50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700" b="1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  Flujo Resumen IA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43000" y="3081787"/>
            <a:ext cx="8904150" cy="95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0787" lvl="1" indent="-290393" algn="l">
              <a:lnSpc>
                <a:spcPts val="3887"/>
              </a:lnSpc>
              <a:buFont typeface="Arial"/>
              <a:buChar char="•"/>
            </a:pPr>
            <a:r>
              <a:rPr lang="en-US" sz="20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Recibe los datos de la ficha residente y signos vitales desde React </a:t>
            </a:r>
          </a:p>
          <a:p>
            <a:pPr marL="580787" lvl="1" indent="-290393" algn="l">
              <a:lnSpc>
                <a:spcPts val="3887"/>
              </a:lnSpc>
              <a:buFont typeface="Arial"/>
              <a:buChar char="•"/>
            </a:pPr>
            <a:r>
              <a:rPr lang="en-US" sz="2025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Procesa la IA correctamente y valida todas las respuestas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143000" y="2673769"/>
            <a:ext cx="342900" cy="342900"/>
            <a:chOff x="0" y="0"/>
            <a:chExt cx="457200" cy="4572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3000" y="695325"/>
            <a:ext cx="17102138" cy="881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2"/>
              </a:lnSpc>
            </a:pPr>
            <a:r>
              <a:rPr lang="en-US" sz="4725" b="1">
                <a:solidFill>
                  <a:srgbClr val="0F172A"/>
                </a:solidFill>
                <a:latin typeface="Poppins Bold"/>
                <a:ea typeface="Poppins Bold"/>
                <a:cs typeface="Poppins Bold"/>
                <a:sym typeface="Poppins Bold"/>
              </a:rPr>
              <a:t>Lógica de Negocio: Flujos n8n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250" y="857250"/>
            <a:ext cx="85725" cy="719955"/>
            <a:chOff x="0" y="0"/>
            <a:chExt cx="114300" cy="9599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4300" cy="959993"/>
            </a:xfrm>
            <a:custGeom>
              <a:avLst/>
              <a:gdLst/>
              <a:ahLst/>
              <a:cxnLst/>
              <a:rect l="l" t="t" r="r" b="b"/>
              <a:pathLst>
                <a:path w="114300" h="959993">
                  <a:moveTo>
                    <a:pt x="0" y="0"/>
                  </a:moveTo>
                  <a:lnTo>
                    <a:pt x="114300" y="0"/>
                  </a:lnTo>
                  <a:lnTo>
                    <a:pt x="114300" y="959993"/>
                  </a:lnTo>
                  <a:lnTo>
                    <a:pt x="0" y="959993"/>
                  </a:lnTo>
                  <a:close/>
                </a:path>
              </a:pathLst>
            </a:custGeom>
            <a:solidFill>
              <a:srgbClr val="14B8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5586125" y="0"/>
            <a:ext cx="2701878" cy="990788"/>
            <a:chOff x="0" y="0"/>
            <a:chExt cx="3602504" cy="13210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02482" cy="1321054"/>
            </a:xfrm>
            <a:custGeom>
              <a:avLst/>
              <a:gdLst/>
              <a:ahLst/>
              <a:cxnLst/>
              <a:rect l="l" t="t" r="r" b="b"/>
              <a:pathLst>
                <a:path w="3602482" h="1321054">
                  <a:moveTo>
                    <a:pt x="0" y="0"/>
                  </a:moveTo>
                  <a:lnTo>
                    <a:pt x="3602482" y="0"/>
                  </a:lnTo>
                  <a:lnTo>
                    <a:pt x="3602482" y="1321054"/>
                  </a:lnTo>
                  <a:lnTo>
                    <a:pt x="0" y="1321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2583525" y="5143502"/>
            <a:ext cx="14221050" cy="2178225"/>
            <a:chOff x="0" y="0"/>
            <a:chExt cx="18961400" cy="29043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961354" cy="2904363"/>
            </a:xfrm>
            <a:custGeom>
              <a:avLst/>
              <a:gdLst/>
              <a:ahLst/>
              <a:cxnLst/>
              <a:rect l="l" t="t" r="r" b="b"/>
              <a:pathLst>
                <a:path w="18961354" h="2904363">
                  <a:moveTo>
                    <a:pt x="0" y="0"/>
                  </a:moveTo>
                  <a:lnTo>
                    <a:pt x="18961354" y="0"/>
                  </a:lnTo>
                  <a:lnTo>
                    <a:pt x="18961354" y="2904363"/>
                  </a:lnTo>
                  <a:lnTo>
                    <a:pt x="0" y="29043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4017" r="-10831" b="-8926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826546" y="2673565"/>
            <a:ext cx="4206783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82B2"/>
                </a:solidFill>
                <a:latin typeface="Gotham Bold"/>
                <a:ea typeface="Gotham Bold"/>
                <a:cs typeface="Gotham Bold"/>
                <a:sym typeface="Gotham Bold"/>
              </a:rPr>
              <a:t>152.000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052517" y="4259845"/>
            <a:ext cx="4206783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82B2"/>
                </a:solidFill>
                <a:latin typeface="Gotham Bold"/>
                <a:ea typeface="Gotham Bold"/>
                <a:cs typeface="Gotham Bold"/>
                <a:sym typeface="Gotham Bold"/>
              </a:rPr>
              <a:t>266%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0" y="3444586"/>
            <a:ext cx="357187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F3849"/>
                </a:solidFill>
                <a:latin typeface="Gotham"/>
                <a:ea typeface="Gotham"/>
                <a:cs typeface="Gotham"/>
                <a:sym typeface="Gotham"/>
              </a:rPr>
              <a:t>CLP / mensuales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365189" y="5030866"/>
            <a:ext cx="357187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F3849"/>
                </a:solidFill>
                <a:latin typeface="Gotham"/>
                <a:ea typeface="Gotham"/>
                <a:cs typeface="Gotham"/>
                <a:sym typeface="Gotham"/>
              </a:rPr>
              <a:t>Retorno de inversion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0" y="4259845"/>
            <a:ext cx="357187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82B2"/>
                </a:solidFill>
                <a:latin typeface="Gotham Bold"/>
                <a:ea typeface="Gotham Bold"/>
                <a:cs typeface="Gotham Bold"/>
                <a:sym typeface="Gotham Bold"/>
              </a:rPr>
              <a:t>8.550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369971" y="2673565"/>
            <a:ext cx="357187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82B2"/>
                </a:solidFill>
                <a:latin typeface="Gotham Bold"/>
                <a:ea typeface="Gotham Bold"/>
                <a:cs typeface="Gotham Bold"/>
                <a:sym typeface="Gotham Bold"/>
              </a:rPr>
              <a:t>65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0" y="5030866"/>
            <a:ext cx="357187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F3849"/>
                </a:solidFill>
                <a:latin typeface="Gotham"/>
                <a:ea typeface="Gotham"/>
                <a:cs typeface="Gotham"/>
                <a:sym typeface="Gotham"/>
              </a:rPr>
              <a:t>Valor hora recuperada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365189" y="3444586"/>
            <a:ext cx="3571875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F3849"/>
                </a:solidFill>
                <a:latin typeface="Gotham"/>
                <a:ea typeface="Gotham"/>
                <a:cs typeface="Gotham"/>
                <a:sym typeface="Gotham"/>
              </a:rPr>
              <a:t>Horas mensuales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23569" y="1394577"/>
            <a:ext cx="5819519" cy="622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9"/>
              </a:lnSpc>
            </a:pPr>
            <a:r>
              <a:rPr lang="en-US" sz="3999" b="1">
                <a:solidFill>
                  <a:srgbClr val="0F3849"/>
                </a:solidFill>
                <a:latin typeface="Gotham Bold"/>
                <a:ea typeface="Gotham Bold"/>
                <a:cs typeface="Gotham Bold"/>
                <a:sym typeface="Gotham Bold"/>
              </a:rPr>
              <a:t>Cifras clave.</a:t>
            </a:r>
          </a:p>
        </p:txBody>
      </p:sp>
      <p:sp>
        <p:nvSpPr>
          <p:cNvPr id="11" name="Freeform 11"/>
          <p:cNvSpPr/>
          <p:nvPr/>
        </p:nvSpPr>
        <p:spPr>
          <a:xfrm rot="-1334154">
            <a:off x="-3755080" y="729373"/>
            <a:ext cx="9316292" cy="6504466"/>
          </a:xfrm>
          <a:custGeom>
            <a:avLst/>
            <a:gdLst/>
            <a:ahLst/>
            <a:cxnLst/>
            <a:rect l="l" t="t" r="r" b="b"/>
            <a:pathLst>
              <a:path w="9316292" h="6504466">
                <a:moveTo>
                  <a:pt x="0" y="0"/>
                </a:moveTo>
                <a:lnTo>
                  <a:pt x="9316292" y="0"/>
                </a:lnTo>
                <a:lnTo>
                  <a:pt x="9316292" y="6504466"/>
                </a:lnTo>
                <a:lnTo>
                  <a:pt x="0" y="65044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94121" y="3006828"/>
            <a:ext cx="5261384" cy="4859605"/>
          </a:xfrm>
          <a:custGeom>
            <a:avLst/>
            <a:gdLst/>
            <a:ahLst/>
            <a:cxnLst/>
            <a:rect l="l" t="t" r="r" b="b"/>
            <a:pathLst>
              <a:path w="5261384" h="4859605">
                <a:moveTo>
                  <a:pt x="0" y="0"/>
                </a:moveTo>
                <a:lnTo>
                  <a:pt x="5261384" y="0"/>
                </a:lnTo>
                <a:lnTo>
                  <a:pt x="5261384" y="4859605"/>
                </a:lnTo>
                <a:lnTo>
                  <a:pt x="0" y="48596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5586125" y="0"/>
            <a:ext cx="2701878" cy="990788"/>
            <a:chOff x="0" y="0"/>
            <a:chExt cx="3602504" cy="13210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602482" cy="1321054"/>
            </a:xfrm>
            <a:custGeom>
              <a:avLst/>
              <a:gdLst/>
              <a:ahLst/>
              <a:cxnLst/>
              <a:rect l="l" t="t" r="r" b="b"/>
              <a:pathLst>
                <a:path w="3602482" h="1321054">
                  <a:moveTo>
                    <a:pt x="0" y="0"/>
                  </a:moveTo>
                  <a:lnTo>
                    <a:pt x="3602482" y="0"/>
                  </a:lnTo>
                  <a:lnTo>
                    <a:pt x="3602482" y="1321054"/>
                  </a:lnTo>
                  <a:lnTo>
                    <a:pt x="0" y="1321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1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2470641" cy="10287000"/>
          </a:xfrm>
          <a:custGeom>
            <a:avLst/>
            <a:gdLst/>
            <a:ahLst/>
            <a:cxnLst/>
            <a:rect l="l" t="t" r="r" b="b"/>
            <a:pathLst>
              <a:path w="2470641" h="10287000">
                <a:moveTo>
                  <a:pt x="0" y="0"/>
                </a:moveTo>
                <a:lnTo>
                  <a:pt x="2470641" y="0"/>
                </a:lnTo>
                <a:lnTo>
                  <a:pt x="24706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2748" b="-1876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5497" y="0"/>
            <a:ext cx="16762503" cy="10287000"/>
          </a:xfrm>
          <a:custGeom>
            <a:avLst/>
            <a:gdLst/>
            <a:ahLst/>
            <a:cxnLst/>
            <a:rect l="l" t="t" r="r" b="b"/>
            <a:pathLst>
              <a:path w="16762503" h="10287000">
                <a:moveTo>
                  <a:pt x="0" y="0"/>
                </a:moveTo>
                <a:lnTo>
                  <a:pt x="16762503" y="0"/>
                </a:lnTo>
                <a:lnTo>
                  <a:pt x="1676250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68354" b="-156219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015519" y="-209405"/>
            <a:ext cx="6086128" cy="3557849"/>
          </a:xfrm>
          <a:custGeom>
            <a:avLst/>
            <a:gdLst/>
            <a:ahLst/>
            <a:cxnLst/>
            <a:rect l="l" t="t" r="r" b="b"/>
            <a:pathLst>
              <a:path w="6086128" h="3557849">
                <a:moveTo>
                  <a:pt x="0" y="0"/>
                </a:moveTo>
                <a:lnTo>
                  <a:pt x="6086128" y="0"/>
                </a:lnTo>
                <a:lnTo>
                  <a:pt x="6086128" y="3557849"/>
                </a:lnTo>
                <a:lnTo>
                  <a:pt x="0" y="35578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2403203" y="394631"/>
          <a:ext cx="17499901" cy="13593648"/>
        </p:xfrm>
        <a:graphic>
          <a:graphicData uri="http://schemas.openxmlformats.org/drawingml/2006/table">
            <a:tbl>
              <a:tblPr/>
              <a:tblGrid>
                <a:gridCol w="34013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9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46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94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06677">
                <a:tc>
                  <a:txBody>
                    <a:bodyPr/>
                    <a:lstStyle/>
                    <a:p>
                      <a:pPr algn="ctr">
                        <a:lnSpc>
                          <a:spcPts val="2358"/>
                        </a:lnSpc>
                        <a:defRPr/>
                      </a:pPr>
                      <a:endParaRPr lang="en-US" sz="1100"/>
                    </a:p>
                  </a:txBody>
                  <a:tcPr marL="213980" marR="213980" marT="213980" marB="213980" anchor="ctr">
                    <a:lnL w="18778" cap="flat" cmpd="sng" algn="ctr">
                      <a:solidFill>
                        <a:srgbClr val="3534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78" cap="flat" cmpd="sng" algn="ctr">
                      <a:solidFill>
                        <a:srgbClr val="3534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58"/>
                        </a:lnSpc>
                        <a:defRPr/>
                      </a:pPr>
                      <a:r>
                        <a:rPr lang="en-US" sz="1684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Tiempo antes</a:t>
                      </a:r>
                      <a:endParaRPr lang="en-US" sz="1100"/>
                    </a:p>
                  </a:txBody>
                  <a:tcPr marL="213980" marR="213980" marT="213980" marB="213980" anchor="ctr">
                    <a:lnL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5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58"/>
                        </a:lnSpc>
                        <a:defRPr/>
                      </a:pPr>
                      <a:r>
                        <a:rPr lang="en-US" sz="1684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Tiempo después</a:t>
                      </a:r>
                      <a:endParaRPr lang="en-US" sz="1100"/>
                    </a:p>
                  </a:txBody>
                  <a:tcPr marL="213980" marR="213980" marT="213980" marB="213980" anchor="ctr">
                    <a:lnL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5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58"/>
                        </a:lnSpc>
                        <a:defRPr/>
                      </a:pPr>
                      <a:r>
                        <a:rPr lang="en-US" sz="1684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Reducción</a:t>
                      </a:r>
                      <a:endParaRPr lang="en-US" sz="1100"/>
                    </a:p>
                  </a:txBody>
                  <a:tcPr marL="213980" marR="213980" marT="213980" marB="213980" anchor="ctr">
                    <a:lnL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2757">
                <a:tc>
                  <a:txBody>
                    <a:bodyPr/>
                    <a:lstStyle/>
                    <a:p>
                      <a:pPr algn="ctr">
                        <a:lnSpc>
                          <a:spcPts val="1853"/>
                        </a:lnSpc>
                        <a:defRPr/>
                      </a:pPr>
                      <a:r>
                        <a:rPr lang="en-US" sz="1684" b="1">
                          <a:solidFill>
                            <a:srgbClr val="262557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Búsqueda de documentos</a:t>
                      </a:r>
                      <a:endParaRPr lang="en-US" sz="1100"/>
                    </a:p>
                    <a:p>
                      <a:pPr algn="ctr">
                        <a:lnSpc>
                          <a:spcPts val="1853"/>
                        </a:lnSpc>
                      </a:pPr>
                      <a:endParaRPr lang="en-US" sz="1100"/>
                    </a:p>
                  </a:txBody>
                  <a:tcPr marL="213980" marR="213980" marT="213980" marB="213980" anchor="b">
                    <a:lnL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78" cap="flat" cmpd="sng" algn="ctr">
                      <a:solidFill>
                        <a:srgbClr val="262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51"/>
                        </a:lnSpc>
                        <a:defRPr/>
                      </a:pPr>
                      <a:r>
                        <a:rPr lang="en-US" sz="1965">
                          <a:solidFill>
                            <a:srgbClr val="000000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3–4 h</a:t>
                      </a:r>
                      <a:endParaRPr lang="en-US" sz="1100"/>
                    </a:p>
                    <a:p>
                      <a:pPr algn="ctr">
                        <a:lnSpc>
                          <a:spcPts val="2751"/>
                        </a:lnSpc>
                      </a:pPr>
                      <a:endParaRPr lang="en-US" sz="1100"/>
                    </a:p>
                  </a:txBody>
                  <a:tcPr marL="213980" marR="213980" marT="213980" marB="213980" anchor="ctr">
                    <a:lnL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4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51"/>
                        </a:lnSpc>
                        <a:defRPr/>
                      </a:pPr>
                      <a:r>
                        <a:rPr lang="en-US" sz="1965">
                          <a:solidFill>
                            <a:srgbClr val="FFFFFF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0,5–1 h</a:t>
                      </a:r>
                      <a:endParaRPr lang="en-US" sz="1100"/>
                    </a:p>
                    <a:p>
                      <a:pPr algn="ctr">
                        <a:lnSpc>
                          <a:spcPts val="2751"/>
                        </a:lnSpc>
                      </a:pPr>
                      <a:endParaRPr lang="en-US" sz="1100"/>
                    </a:p>
                  </a:txBody>
                  <a:tcPr marL="213980" marR="213980" marT="213980" marB="213980" anchor="ctr">
                    <a:lnL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B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51"/>
                        </a:lnSpc>
                        <a:defRPr/>
                      </a:pPr>
                      <a:r>
                        <a:rPr lang="en-US" sz="1965">
                          <a:solidFill>
                            <a:srgbClr val="010101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70–85%</a:t>
                      </a:r>
                      <a:endParaRPr lang="en-US" sz="1100"/>
                    </a:p>
                    <a:p>
                      <a:pPr algn="ctr">
                        <a:lnSpc>
                          <a:spcPts val="2751"/>
                        </a:lnSpc>
                      </a:pPr>
                      <a:endParaRPr lang="en-US" sz="1100"/>
                    </a:p>
                  </a:txBody>
                  <a:tcPr marL="213980" marR="213980" marT="213980" marB="213980" anchor="ctr">
                    <a:lnL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0766">
                <a:tc>
                  <a:txBody>
                    <a:bodyPr/>
                    <a:lstStyle/>
                    <a:p>
                      <a:pPr algn="ctr">
                        <a:lnSpc>
                          <a:spcPts val="2358"/>
                        </a:lnSpc>
                        <a:defRPr/>
                      </a:pPr>
                      <a:r>
                        <a:rPr lang="en-US" sz="1684" b="1">
                          <a:solidFill>
                            <a:srgbClr val="262557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Transcripción</a:t>
                      </a:r>
                      <a:endParaRPr lang="en-US" sz="1100"/>
                    </a:p>
                    <a:p>
                      <a:pPr algn="ctr">
                        <a:lnSpc>
                          <a:spcPts val="2358"/>
                        </a:lnSpc>
                      </a:pPr>
                      <a:endParaRPr lang="en-US" sz="1100"/>
                    </a:p>
                  </a:txBody>
                  <a:tcPr marL="213980" marR="213980" marT="213980" marB="213980" anchor="b">
                    <a:lnL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78" cap="flat" cmpd="sng" algn="ctr">
                      <a:solidFill>
                        <a:srgbClr val="262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78" cap="flat" cmpd="sng" algn="ctr">
                      <a:solidFill>
                        <a:srgbClr val="262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51"/>
                        </a:lnSpc>
                        <a:defRPr/>
                      </a:pPr>
                      <a:r>
                        <a:rPr lang="en-US" sz="1965">
                          <a:solidFill>
                            <a:srgbClr val="010101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6–7 h</a:t>
                      </a:r>
                      <a:endParaRPr lang="en-US" sz="1100"/>
                    </a:p>
                    <a:p>
                      <a:pPr algn="ctr">
                        <a:lnSpc>
                          <a:spcPts val="2751"/>
                        </a:lnSpc>
                      </a:pPr>
                      <a:endParaRPr lang="en-US" sz="1100"/>
                    </a:p>
                  </a:txBody>
                  <a:tcPr marL="213980" marR="213980" marT="213980" marB="213980" anchor="ctr">
                    <a:lnL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4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51"/>
                        </a:lnSpc>
                        <a:defRPr/>
                      </a:pPr>
                      <a:r>
                        <a:rPr lang="en-US" sz="1965">
                          <a:solidFill>
                            <a:srgbClr val="FFFFFF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1–2 h</a:t>
                      </a:r>
                      <a:endParaRPr lang="en-US" sz="1100"/>
                    </a:p>
                    <a:p>
                      <a:pPr algn="ctr">
                        <a:lnSpc>
                          <a:spcPts val="2751"/>
                        </a:lnSpc>
                      </a:pPr>
                      <a:endParaRPr lang="en-US" sz="1100"/>
                    </a:p>
                  </a:txBody>
                  <a:tcPr marL="213980" marR="213980" marT="213980" marB="213980" anchor="ctr">
                    <a:lnL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B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51"/>
                        </a:lnSpc>
                        <a:defRPr/>
                      </a:pPr>
                      <a:r>
                        <a:rPr lang="en-US" sz="1965">
                          <a:solidFill>
                            <a:srgbClr val="010101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65–85%</a:t>
                      </a:r>
                      <a:endParaRPr lang="en-US" sz="1100"/>
                    </a:p>
                    <a:p>
                      <a:pPr algn="ctr">
                        <a:lnSpc>
                          <a:spcPts val="2751"/>
                        </a:lnSpc>
                      </a:pPr>
                      <a:endParaRPr lang="en-US" sz="1100"/>
                    </a:p>
                  </a:txBody>
                  <a:tcPr marL="213980" marR="213980" marT="213980" marB="213980" anchor="ctr">
                    <a:lnL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0793">
                <a:tc>
                  <a:txBody>
                    <a:bodyPr/>
                    <a:lstStyle/>
                    <a:p>
                      <a:pPr algn="ctr">
                        <a:lnSpc>
                          <a:spcPts val="2358"/>
                        </a:lnSpc>
                        <a:defRPr/>
                      </a:pPr>
                      <a:r>
                        <a:rPr lang="en-US" sz="1684" b="1">
                          <a:solidFill>
                            <a:srgbClr val="262557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Reportes a familias</a:t>
                      </a:r>
                      <a:endParaRPr lang="en-US" sz="1100"/>
                    </a:p>
                    <a:p>
                      <a:pPr algn="ctr">
                        <a:lnSpc>
                          <a:spcPts val="2358"/>
                        </a:lnSpc>
                      </a:pPr>
                      <a:endParaRPr lang="en-US" sz="1100"/>
                    </a:p>
                  </a:txBody>
                  <a:tcPr marL="213980" marR="213980" marT="213980" marB="213980" anchor="b">
                    <a:lnL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78" cap="flat" cmpd="sng" algn="ctr">
                      <a:solidFill>
                        <a:srgbClr val="262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78" cap="flat" cmpd="sng" algn="ctr">
                      <a:solidFill>
                        <a:srgbClr val="262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51"/>
                        </a:lnSpc>
                        <a:defRPr/>
                      </a:pPr>
                      <a:r>
                        <a:rPr lang="en-US" sz="1965">
                          <a:solidFill>
                            <a:srgbClr val="12443D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4–5 h</a:t>
                      </a:r>
                      <a:endParaRPr lang="en-US" sz="1100"/>
                    </a:p>
                    <a:p>
                      <a:pPr algn="ctr">
                        <a:lnSpc>
                          <a:spcPts val="2751"/>
                        </a:lnSpc>
                      </a:pPr>
                      <a:endParaRPr lang="en-US" sz="1100"/>
                    </a:p>
                  </a:txBody>
                  <a:tcPr marL="213980" marR="213980" marT="213980" marB="213980" anchor="ctr">
                    <a:lnL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4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51"/>
                        </a:lnSpc>
                        <a:defRPr/>
                      </a:pPr>
                      <a:r>
                        <a:rPr lang="en-US" sz="1965">
                          <a:solidFill>
                            <a:srgbClr val="FFFFFF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1 h</a:t>
                      </a:r>
                      <a:endParaRPr lang="en-US" sz="1100"/>
                    </a:p>
                    <a:p>
                      <a:pPr algn="ctr">
                        <a:lnSpc>
                          <a:spcPts val="2751"/>
                        </a:lnSpc>
                      </a:pPr>
                      <a:endParaRPr lang="en-US" sz="1100"/>
                    </a:p>
                  </a:txBody>
                  <a:tcPr marL="213980" marR="213980" marT="213980" marB="213980" anchor="ctr">
                    <a:lnL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B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51"/>
                        </a:lnSpc>
                        <a:defRPr/>
                      </a:pPr>
                      <a:r>
                        <a:rPr lang="en-US" sz="1965">
                          <a:solidFill>
                            <a:srgbClr val="010101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75–80%</a:t>
                      </a:r>
                      <a:endParaRPr lang="en-US" sz="1100"/>
                    </a:p>
                    <a:p>
                      <a:pPr algn="ctr">
                        <a:lnSpc>
                          <a:spcPts val="2751"/>
                        </a:lnSpc>
                      </a:pPr>
                      <a:endParaRPr lang="en-US" sz="1100"/>
                    </a:p>
                  </a:txBody>
                  <a:tcPr marL="213980" marR="213980" marT="213980" marB="213980" anchor="ctr">
                    <a:lnL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0793">
                <a:tc>
                  <a:txBody>
                    <a:bodyPr/>
                    <a:lstStyle/>
                    <a:p>
                      <a:pPr algn="ctr">
                        <a:lnSpc>
                          <a:spcPts val="2358"/>
                        </a:lnSpc>
                        <a:defRPr/>
                      </a:pPr>
                      <a:r>
                        <a:rPr lang="en-US" sz="1684" b="1">
                          <a:solidFill>
                            <a:srgbClr val="262557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Reuniones de turno</a:t>
                      </a:r>
                      <a:endParaRPr lang="en-US" sz="1100"/>
                    </a:p>
                    <a:p>
                      <a:pPr algn="ctr">
                        <a:lnSpc>
                          <a:spcPts val="2358"/>
                        </a:lnSpc>
                      </a:pPr>
                      <a:endParaRPr lang="en-US" sz="1100"/>
                    </a:p>
                  </a:txBody>
                  <a:tcPr marL="213980" marR="213980" marT="213980" marB="213980" anchor="b">
                    <a:lnL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78" cap="flat" cmpd="sng" algn="ctr">
                      <a:solidFill>
                        <a:srgbClr val="262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78" cap="flat" cmpd="sng" algn="ctr">
                      <a:solidFill>
                        <a:srgbClr val="262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51"/>
                        </a:lnSpc>
                        <a:defRPr/>
                      </a:pPr>
                      <a:r>
                        <a:rPr lang="en-US" sz="1965">
                          <a:solidFill>
                            <a:srgbClr val="12443D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2–3 h</a:t>
                      </a:r>
                      <a:endParaRPr lang="en-US" sz="1100"/>
                    </a:p>
                    <a:p>
                      <a:pPr algn="ctr">
                        <a:lnSpc>
                          <a:spcPts val="2751"/>
                        </a:lnSpc>
                      </a:pPr>
                      <a:endParaRPr lang="en-US" sz="1100"/>
                    </a:p>
                  </a:txBody>
                  <a:tcPr marL="213980" marR="213980" marT="213980" marB="213980" anchor="ctr">
                    <a:lnL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4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51"/>
                        </a:lnSpc>
                        <a:defRPr/>
                      </a:pPr>
                      <a:r>
                        <a:rPr lang="en-US" sz="1965">
                          <a:solidFill>
                            <a:srgbClr val="FFFFFF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0,5 h</a:t>
                      </a:r>
                      <a:endParaRPr lang="en-US" sz="1100"/>
                    </a:p>
                    <a:p>
                      <a:pPr algn="ctr">
                        <a:lnSpc>
                          <a:spcPts val="2751"/>
                        </a:lnSpc>
                      </a:pPr>
                      <a:endParaRPr lang="en-US" sz="1100"/>
                    </a:p>
                  </a:txBody>
                  <a:tcPr marL="213980" marR="213980" marT="213980" marB="213980" anchor="ctr">
                    <a:lnL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B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51"/>
                        </a:lnSpc>
                        <a:defRPr/>
                      </a:pPr>
                      <a:r>
                        <a:rPr lang="en-US" sz="1965">
                          <a:solidFill>
                            <a:srgbClr val="010101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70%</a:t>
                      </a:r>
                      <a:endParaRPr lang="en-US" sz="1100"/>
                    </a:p>
                    <a:p>
                      <a:pPr algn="ctr">
                        <a:lnSpc>
                          <a:spcPts val="2751"/>
                        </a:lnSpc>
                      </a:pPr>
                      <a:endParaRPr lang="en-US" sz="1100"/>
                    </a:p>
                  </a:txBody>
                  <a:tcPr marL="213980" marR="213980" marT="213980" marB="213980" anchor="ctr">
                    <a:lnL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15931">
                <a:tc>
                  <a:txBody>
                    <a:bodyPr/>
                    <a:lstStyle/>
                    <a:p>
                      <a:pPr algn="ctr">
                        <a:lnSpc>
                          <a:spcPts val="2358"/>
                        </a:lnSpc>
                        <a:defRPr/>
                      </a:pPr>
                      <a:r>
                        <a:rPr lang="en-US" sz="1684" b="1">
                          <a:solidFill>
                            <a:srgbClr val="262557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Correcciones / doble registro</a:t>
                      </a:r>
                      <a:endParaRPr lang="en-US" sz="1100"/>
                    </a:p>
                    <a:p>
                      <a:pPr algn="ctr">
                        <a:lnSpc>
                          <a:spcPts val="2358"/>
                        </a:lnSpc>
                      </a:pPr>
                      <a:endParaRPr lang="en-US" sz="1100"/>
                    </a:p>
                  </a:txBody>
                  <a:tcPr marL="213980" marR="213980" marT="213980" marB="213980" anchor="b">
                    <a:lnL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78" cap="flat" cmpd="sng" algn="ctr">
                      <a:solidFill>
                        <a:srgbClr val="2625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51"/>
                        </a:lnSpc>
                        <a:defRPr/>
                      </a:pPr>
                      <a:r>
                        <a:rPr lang="en-US" sz="1965">
                          <a:solidFill>
                            <a:srgbClr val="12443D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2 h</a:t>
                      </a:r>
                      <a:endParaRPr lang="en-US" sz="1100"/>
                    </a:p>
                    <a:p>
                      <a:pPr algn="ctr">
                        <a:lnSpc>
                          <a:spcPts val="2751"/>
                        </a:lnSpc>
                      </a:pPr>
                      <a:endParaRPr lang="en-US" sz="1100"/>
                    </a:p>
                  </a:txBody>
                  <a:tcPr marL="213980" marR="213980" marT="213980" marB="213980" anchor="ctr">
                    <a:lnL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4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51"/>
                        </a:lnSpc>
                        <a:defRPr/>
                      </a:pPr>
                      <a:r>
                        <a:rPr lang="en-US" sz="1965">
                          <a:solidFill>
                            <a:srgbClr val="FFFFFF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0,5 h</a:t>
                      </a:r>
                      <a:endParaRPr lang="en-US" sz="1100"/>
                    </a:p>
                    <a:p>
                      <a:pPr algn="ctr">
                        <a:lnSpc>
                          <a:spcPts val="2751"/>
                        </a:lnSpc>
                      </a:pPr>
                      <a:endParaRPr lang="en-US" sz="1100"/>
                    </a:p>
                  </a:txBody>
                  <a:tcPr marL="213980" marR="213980" marT="213980" marB="213980" anchor="ctr">
                    <a:lnL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B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51"/>
                        </a:lnSpc>
                        <a:defRPr/>
                      </a:pPr>
                      <a:r>
                        <a:rPr lang="en-US" sz="1965">
                          <a:solidFill>
                            <a:srgbClr val="010101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75%</a:t>
                      </a:r>
                      <a:endParaRPr lang="en-US" sz="1100"/>
                    </a:p>
                    <a:p>
                      <a:pPr algn="ctr">
                        <a:lnSpc>
                          <a:spcPts val="2751"/>
                        </a:lnSpc>
                      </a:pPr>
                      <a:endParaRPr lang="en-US" sz="1100"/>
                    </a:p>
                  </a:txBody>
                  <a:tcPr marL="213980" marR="213980" marT="213980" marB="213980" anchor="ctr">
                    <a:lnL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5931">
                <a:tc>
                  <a:txBody>
                    <a:bodyPr/>
                    <a:lstStyle/>
                    <a:p>
                      <a:pPr algn="ctr">
                        <a:lnSpc>
                          <a:spcPts val="2358"/>
                        </a:lnSpc>
                        <a:defRPr/>
                      </a:pPr>
                      <a:r>
                        <a:rPr lang="en-US" sz="1684" b="1">
                          <a:solidFill>
                            <a:srgbClr val="262557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TOTAL MENSUAL</a:t>
                      </a:r>
                      <a:endParaRPr lang="en-US" sz="1100"/>
                    </a:p>
                    <a:p>
                      <a:pPr algn="ctr">
                        <a:lnSpc>
                          <a:spcPts val="2358"/>
                        </a:lnSpc>
                      </a:pPr>
                      <a:endParaRPr lang="en-US" sz="1100"/>
                    </a:p>
                  </a:txBody>
                  <a:tcPr marL="213980" marR="213980" marT="213980" marB="213980" anchor="b">
                    <a:lnL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51"/>
                        </a:lnSpc>
                        <a:defRPr/>
                      </a:pPr>
                      <a:r>
                        <a:rPr lang="en-US" sz="1965">
                          <a:solidFill>
                            <a:srgbClr val="12443D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70 h/mes</a:t>
                      </a:r>
                      <a:endParaRPr lang="en-US" sz="1100"/>
                    </a:p>
                  </a:txBody>
                  <a:tcPr marL="213980" marR="213980" marT="213980" marB="213980" anchor="ctr">
                    <a:lnL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4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51"/>
                        </a:lnSpc>
                        <a:defRPr/>
                      </a:pPr>
                      <a:r>
                        <a:rPr lang="en-US" sz="1965">
                          <a:solidFill>
                            <a:srgbClr val="FFFFFF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5 h/mes</a:t>
                      </a:r>
                      <a:endParaRPr lang="en-US" sz="1100"/>
                    </a:p>
                    <a:p>
                      <a:pPr algn="ctr">
                        <a:lnSpc>
                          <a:spcPts val="2751"/>
                        </a:lnSpc>
                      </a:pPr>
                      <a:endParaRPr lang="en-US" sz="1100"/>
                    </a:p>
                  </a:txBody>
                  <a:tcPr marL="213980" marR="213980" marT="213980" marB="213980" anchor="ctr">
                    <a:lnL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B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51"/>
                        </a:lnSpc>
                        <a:defRPr/>
                      </a:pPr>
                      <a:r>
                        <a:rPr lang="en-US" sz="1965">
                          <a:solidFill>
                            <a:srgbClr val="010101"/>
                          </a:solidFill>
                          <a:latin typeface="Fredoka"/>
                          <a:ea typeface="Fredoka"/>
                          <a:cs typeface="Fredoka"/>
                          <a:sym typeface="Fredoka"/>
                        </a:rPr>
                        <a:t>75% menos carga</a:t>
                      </a:r>
                      <a:endParaRPr lang="en-US" sz="1100"/>
                    </a:p>
                    <a:p>
                      <a:pPr algn="ctr">
                        <a:lnSpc>
                          <a:spcPts val="2751"/>
                        </a:lnSpc>
                      </a:pPr>
                      <a:endParaRPr lang="en-US" sz="1100"/>
                    </a:p>
                  </a:txBody>
                  <a:tcPr marL="213980" marR="213980" marT="213980" marB="213980" anchor="ctr">
                    <a:lnL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77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B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Freeform 6"/>
          <p:cNvSpPr/>
          <p:nvPr/>
        </p:nvSpPr>
        <p:spPr>
          <a:xfrm rot="-1179543">
            <a:off x="3499746" y="4967190"/>
            <a:ext cx="237925" cy="349051"/>
          </a:xfrm>
          <a:custGeom>
            <a:avLst/>
            <a:gdLst/>
            <a:ahLst/>
            <a:cxnLst/>
            <a:rect l="l" t="t" r="r" b="b"/>
            <a:pathLst>
              <a:path w="237925" h="349051">
                <a:moveTo>
                  <a:pt x="0" y="0"/>
                </a:moveTo>
                <a:lnTo>
                  <a:pt x="237925" y="0"/>
                </a:lnTo>
                <a:lnTo>
                  <a:pt x="237925" y="349051"/>
                </a:lnTo>
                <a:lnTo>
                  <a:pt x="0" y="3490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869404">
            <a:off x="3398340" y="3542375"/>
            <a:ext cx="440738" cy="369418"/>
          </a:xfrm>
          <a:custGeom>
            <a:avLst/>
            <a:gdLst/>
            <a:ahLst/>
            <a:cxnLst/>
            <a:rect l="l" t="t" r="r" b="b"/>
            <a:pathLst>
              <a:path w="440738" h="369418">
                <a:moveTo>
                  <a:pt x="0" y="0"/>
                </a:moveTo>
                <a:lnTo>
                  <a:pt x="440737" y="0"/>
                </a:lnTo>
                <a:lnTo>
                  <a:pt x="440737" y="369419"/>
                </a:lnTo>
                <a:lnTo>
                  <a:pt x="0" y="3694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899153">
            <a:off x="3526133" y="6353607"/>
            <a:ext cx="249742" cy="461099"/>
          </a:xfrm>
          <a:custGeom>
            <a:avLst/>
            <a:gdLst/>
            <a:ahLst/>
            <a:cxnLst/>
            <a:rect l="l" t="t" r="r" b="b"/>
            <a:pathLst>
              <a:path w="249742" h="461099">
                <a:moveTo>
                  <a:pt x="0" y="0"/>
                </a:moveTo>
                <a:lnTo>
                  <a:pt x="249742" y="0"/>
                </a:lnTo>
                <a:lnTo>
                  <a:pt x="249742" y="461098"/>
                </a:lnTo>
                <a:lnTo>
                  <a:pt x="0" y="4610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359133" y="2157532"/>
            <a:ext cx="432413" cy="359296"/>
          </a:xfrm>
          <a:custGeom>
            <a:avLst/>
            <a:gdLst/>
            <a:ahLst/>
            <a:cxnLst/>
            <a:rect l="l" t="t" r="r" b="b"/>
            <a:pathLst>
              <a:path w="432413" h="359296">
                <a:moveTo>
                  <a:pt x="0" y="0"/>
                </a:moveTo>
                <a:lnTo>
                  <a:pt x="432413" y="0"/>
                </a:lnTo>
                <a:lnTo>
                  <a:pt x="432413" y="359296"/>
                </a:lnTo>
                <a:lnTo>
                  <a:pt x="0" y="35929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526757" y="423206"/>
            <a:ext cx="2097165" cy="497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09"/>
              </a:lnSpc>
            </a:pPr>
            <a:r>
              <a:rPr lang="en-US" sz="198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Cuadro comparativo</a:t>
            </a:r>
          </a:p>
        </p:txBody>
      </p:sp>
      <p:sp>
        <p:nvSpPr>
          <p:cNvPr id="11" name="Freeform 11"/>
          <p:cNvSpPr/>
          <p:nvPr/>
        </p:nvSpPr>
        <p:spPr>
          <a:xfrm rot="-869404">
            <a:off x="3354971" y="8025321"/>
            <a:ext cx="440738" cy="369418"/>
          </a:xfrm>
          <a:custGeom>
            <a:avLst/>
            <a:gdLst/>
            <a:ahLst/>
            <a:cxnLst/>
            <a:rect l="l" t="t" r="r" b="b"/>
            <a:pathLst>
              <a:path w="440738" h="369418">
                <a:moveTo>
                  <a:pt x="0" y="0"/>
                </a:moveTo>
                <a:lnTo>
                  <a:pt x="440737" y="0"/>
                </a:lnTo>
                <a:lnTo>
                  <a:pt x="440737" y="369418"/>
                </a:lnTo>
                <a:lnTo>
                  <a:pt x="0" y="3694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857250" y="3964780"/>
            <a:ext cx="5238823" cy="3648892"/>
            <a:chOff x="0" y="0"/>
            <a:chExt cx="6985098" cy="486519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6985127" cy="4865243"/>
            </a:xfrm>
            <a:custGeom>
              <a:avLst/>
              <a:gdLst/>
              <a:ahLst/>
              <a:cxnLst/>
              <a:rect l="l" t="t" r="r" b="b"/>
              <a:pathLst>
                <a:path w="6985127" h="4865243">
                  <a:moveTo>
                    <a:pt x="0" y="0"/>
                  </a:moveTo>
                  <a:lnTo>
                    <a:pt x="6985127" y="0"/>
                  </a:lnTo>
                  <a:lnTo>
                    <a:pt x="6985127" y="4865243"/>
                  </a:lnTo>
                  <a:lnTo>
                    <a:pt x="0" y="4865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47"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6524698" y="3964780"/>
            <a:ext cx="5238823" cy="3648892"/>
            <a:chOff x="0" y="0"/>
            <a:chExt cx="6985098" cy="486519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6985127" cy="4865243"/>
            </a:xfrm>
            <a:custGeom>
              <a:avLst/>
              <a:gdLst/>
              <a:ahLst/>
              <a:cxnLst/>
              <a:rect l="l" t="t" r="r" b="b"/>
              <a:pathLst>
                <a:path w="6985127" h="4865243">
                  <a:moveTo>
                    <a:pt x="0" y="0"/>
                  </a:moveTo>
                  <a:lnTo>
                    <a:pt x="6985127" y="0"/>
                  </a:lnTo>
                  <a:lnTo>
                    <a:pt x="6985127" y="4865243"/>
                  </a:lnTo>
                  <a:lnTo>
                    <a:pt x="0" y="4865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22" b="1"/>
              </a:stretch>
            </a:blip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2192148" y="3964780"/>
            <a:ext cx="5238823" cy="3648892"/>
            <a:chOff x="0" y="0"/>
            <a:chExt cx="6985098" cy="486519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6985127" cy="4865243"/>
            </a:xfrm>
            <a:custGeom>
              <a:avLst/>
              <a:gdLst/>
              <a:ahLst/>
              <a:cxnLst/>
              <a:rect l="l" t="t" r="r" b="b"/>
              <a:pathLst>
                <a:path w="6985127" h="4865243">
                  <a:moveTo>
                    <a:pt x="0" y="0"/>
                  </a:moveTo>
                  <a:lnTo>
                    <a:pt x="6985127" y="0"/>
                  </a:lnTo>
                  <a:lnTo>
                    <a:pt x="6985127" y="4865243"/>
                  </a:lnTo>
                  <a:lnTo>
                    <a:pt x="0" y="4865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22" b="1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300162" y="5164931"/>
            <a:ext cx="4570650" cy="50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700" b="1">
                <a:solidFill>
                  <a:srgbClr val="F1F5F9"/>
                </a:solidFill>
                <a:latin typeface="Poppins Bold"/>
                <a:ea typeface="Poppins Bold"/>
                <a:cs typeface="Poppins Bold"/>
                <a:sym typeface="Poppins Bold"/>
              </a:rPr>
              <a:t>Caida del servidor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67611" y="5164931"/>
            <a:ext cx="4570650" cy="50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700" b="1">
                <a:solidFill>
                  <a:srgbClr val="F1F5F9"/>
                </a:solidFill>
                <a:latin typeface="Poppins Bold"/>
                <a:ea typeface="Poppins Bold"/>
                <a:cs typeface="Poppins Bold"/>
                <a:sym typeface="Poppins Bold"/>
              </a:rPr>
              <a:t>Configuracion dns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35061" y="5094655"/>
            <a:ext cx="4570650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7"/>
              </a:lnSpc>
            </a:pPr>
            <a:r>
              <a:rPr lang="en-US" sz="2700" b="1">
                <a:solidFill>
                  <a:srgbClr val="F1F5F9"/>
                </a:solidFill>
                <a:latin typeface="Poppins Bold"/>
                <a:ea typeface="Poppins Bold"/>
                <a:cs typeface="Poppins Bold"/>
                <a:sym typeface="Poppins Bold"/>
              </a:rPr>
              <a:t>Cumplir plazos para objetivos definidos</a:t>
            </a:r>
          </a:p>
        </p:txBody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300162" y="4450556"/>
            <a:ext cx="514350" cy="457200"/>
            <a:chOff x="0" y="0"/>
            <a:chExt cx="685800" cy="609600"/>
          </a:xfrm>
        </p:grpSpPr>
        <p:sp>
          <p:nvSpPr>
            <p:cNvPr id="14" name="Freeform 14" descr="image.png"/>
            <p:cNvSpPr/>
            <p:nvPr/>
          </p:nvSpPr>
          <p:spPr>
            <a:xfrm>
              <a:off x="0" y="0"/>
              <a:ext cx="685800" cy="609600"/>
            </a:xfrm>
            <a:custGeom>
              <a:avLst/>
              <a:gdLst/>
              <a:ahLst/>
              <a:cxnLst/>
              <a:rect l="l" t="t" r="r" b="b"/>
              <a:pathLst>
                <a:path w="685800" h="609600">
                  <a:moveTo>
                    <a:pt x="0" y="0"/>
                  </a:moveTo>
                  <a:lnTo>
                    <a:pt x="685800" y="0"/>
                  </a:lnTo>
                  <a:lnTo>
                    <a:pt x="6858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-3125"/>
              </a:stretch>
            </a:blipFill>
          </p:spPr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6967611" y="4450556"/>
            <a:ext cx="571500" cy="457200"/>
            <a:chOff x="0" y="0"/>
            <a:chExt cx="762000" cy="609600"/>
          </a:xfrm>
        </p:grpSpPr>
        <p:sp>
          <p:nvSpPr>
            <p:cNvPr id="16" name="Freeform 16" descr="image.png"/>
            <p:cNvSpPr/>
            <p:nvPr/>
          </p:nvSpPr>
          <p:spPr>
            <a:xfrm>
              <a:off x="0" y="0"/>
              <a:ext cx="762000" cy="609600"/>
            </a:xfrm>
            <a:custGeom>
              <a:avLst/>
              <a:gdLst/>
              <a:ahLst/>
              <a:cxnLst/>
              <a:rect l="l" t="t" r="r" b="b"/>
              <a:pathLst>
                <a:path w="762000" h="609600">
                  <a:moveTo>
                    <a:pt x="0" y="0"/>
                  </a:moveTo>
                  <a:lnTo>
                    <a:pt x="762000" y="0"/>
                  </a:lnTo>
                  <a:lnTo>
                    <a:pt x="7620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609"/>
              </a:stretch>
            </a:blipFill>
          </p:spPr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12635061" y="4450556"/>
            <a:ext cx="514350" cy="457200"/>
            <a:chOff x="0" y="0"/>
            <a:chExt cx="685800" cy="609600"/>
          </a:xfrm>
        </p:grpSpPr>
        <p:sp>
          <p:nvSpPr>
            <p:cNvPr id="18" name="Freeform 18" descr="image.png"/>
            <p:cNvSpPr/>
            <p:nvPr/>
          </p:nvSpPr>
          <p:spPr>
            <a:xfrm>
              <a:off x="0" y="0"/>
              <a:ext cx="685800" cy="609600"/>
            </a:xfrm>
            <a:custGeom>
              <a:avLst/>
              <a:gdLst/>
              <a:ahLst/>
              <a:cxnLst/>
              <a:rect l="l" t="t" r="r" b="b"/>
              <a:pathLst>
                <a:path w="685800" h="609600">
                  <a:moveTo>
                    <a:pt x="0" y="0"/>
                  </a:moveTo>
                  <a:lnTo>
                    <a:pt x="685800" y="0"/>
                  </a:lnTo>
                  <a:lnTo>
                    <a:pt x="6858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b="-337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1143000" y="695325"/>
            <a:ext cx="17102250" cy="88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2"/>
              </a:lnSpc>
            </a:pPr>
            <a:r>
              <a:rPr lang="en-US" sz="4725" b="1">
                <a:solidFill>
                  <a:srgbClr val="F1F5F9"/>
                </a:solidFill>
                <a:latin typeface="Poppins Bold"/>
                <a:ea typeface="Poppins Bold"/>
                <a:cs typeface="Poppins Bold"/>
                <a:sym typeface="Poppins Bold"/>
              </a:rPr>
              <a:t>Obstaculos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857250" y="857250"/>
            <a:ext cx="85725" cy="719955"/>
            <a:chOff x="0" y="0"/>
            <a:chExt cx="114300" cy="9599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4300" cy="959993"/>
            </a:xfrm>
            <a:custGeom>
              <a:avLst/>
              <a:gdLst/>
              <a:ahLst/>
              <a:cxnLst/>
              <a:rect l="l" t="t" r="r" b="b"/>
              <a:pathLst>
                <a:path w="114300" h="959993">
                  <a:moveTo>
                    <a:pt x="0" y="0"/>
                  </a:moveTo>
                  <a:lnTo>
                    <a:pt x="114300" y="0"/>
                  </a:lnTo>
                  <a:lnTo>
                    <a:pt x="114300" y="959993"/>
                  </a:lnTo>
                  <a:lnTo>
                    <a:pt x="0" y="959993"/>
                  </a:lnTo>
                  <a:close/>
                </a:path>
              </a:pathLst>
            </a:custGeom>
            <a:solidFill>
              <a:srgbClr val="14B8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15586125" y="0"/>
            <a:ext cx="2701878" cy="990788"/>
            <a:chOff x="0" y="0"/>
            <a:chExt cx="3602504" cy="13210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602482" cy="1321054"/>
            </a:xfrm>
            <a:custGeom>
              <a:avLst/>
              <a:gdLst/>
              <a:ahLst/>
              <a:cxnLst/>
              <a:rect l="l" t="t" r="r" b="b"/>
              <a:pathLst>
                <a:path w="3602482" h="1321054">
                  <a:moveTo>
                    <a:pt x="0" y="0"/>
                  </a:moveTo>
                  <a:lnTo>
                    <a:pt x="3602482" y="0"/>
                  </a:lnTo>
                  <a:lnTo>
                    <a:pt x="3602482" y="1321054"/>
                  </a:lnTo>
                  <a:lnTo>
                    <a:pt x="0" y="13210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1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4143600" cy="5143500"/>
            <a:chOff x="0" y="0"/>
            <a:chExt cx="5524800" cy="6858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24754" cy="6858000"/>
            </a:xfrm>
            <a:custGeom>
              <a:avLst/>
              <a:gdLst/>
              <a:ahLst/>
              <a:cxnLst/>
              <a:rect l="l" t="t" r="r" b="b"/>
              <a:pathLst>
                <a:path w="5524754" h="6858000">
                  <a:moveTo>
                    <a:pt x="0" y="0"/>
                  </a:moveTo>
                  <a:lnTo>
                    <a:pt x="5524754" y="0"/>
                  </a:lnTo>
                  <a:lnTo>
                    <a:pt x="552475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706" b="-3706"/>
              </a:stretch>
            </a:blipFill>
          </p:spPr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4004175" y="1"/>
            <a:ext cx="3857643" cy="5143500"/>
            <a:chOff x="0" y="0"/>
            <a:chExt cx="5143524" cy="6858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43500" cy="6858000"/>
            </a:xfrm>
            <a:custGeom>
              <a:avLst/>
              <a:gdLst/>
              <a:ahLst/>
              <a:cxnLst/>
              <a:rect l="l" t="t" r="r" b="b"/>
              <a:pathLst>
                <a:path w="5143500" h="6858000">
                  <a:moveTo>
                    <a:pt x="0" y="0"/>
                  </a:moveTo>
                  <a:lnTo>
                    <a:pt x="5143500" y="0"/>
                  </a:lnTo>
                  <a:lnTo>
                    <a:pt x="51435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861800" y="0"/>
            <a:ext cx="2934716" cy="5194128"/>
            <a:chOff x="0" y="0"/>
            <a:chExt cx="3912954" cy="69255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12997" cy="6925564"/>
            </a:xfrm>
            <a:custGeom>
              <a:avLst/>
              <a:gdLst/>
              <a:ahLst/>
              <a:cxnLst/>
              <a:rect l="l" t="t" r="r" b="b"/>
              <a:pathLst>
                <a:path w="3912997" h="6925564">
                  <a:moveTo>
                    <a:pt x="0" y="0"/>
                  </a:moveTo>
                  <a:lnTo>
                    <a:pt x="3912997" y="0"/>
                  </a:lnTo>
                  <a:lnTo>
                    <a:pt x="3912997" y="6925564"/>
                  </a:lnTo>
                  <a:lnTo>
                    <a:pt x="0" y="69255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/>
              </a:stretch>
            </a:blip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 rot="-5400000">
            <a:off x="13357480" y="-2560967"/>
            <a:ext cx="2367786" cy="7489724"/>
            <a:chOff x="0" y="0"/>
            <a:chExt cx="3157048" cy="99862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57093" cy="9986264"/>
            </a:xfrm>
            <a:custGeom>
              <a:avLst/>
              <a:gdLst/>
              <a:ahLst/>
              <a:cxnLst/>
              <a:rect l="l" t="t" r="r" b="b"/>
              <a:pathLst>
                <a:path w="3157093" h="9986264">
                  <a:moveTo>
                    <a:pt x="0" y="0"/>
                  </a:moveTo>
                  <a:lnTo>
                    <a:pt x="3157093" y="0"/>
                  </a:lnTo>
                  <a:lnTo>
                    <a:pt x="3157093" y="9986264"/>
                  </a:lnTo>
                  <a:lnTo>
                    <a:pt x="0" y="99862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8963" r="-38962"/>
              </a:stretch>
            </a:blip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 rot="-5400000">
            <a:off x="13006745" y="-101345"/>
            <a:ext cx="3023700" cy="7567239"/>
            <a:chOff x="0" y="0"/>
            <a:chExt cx="4031600" cy="1008965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031615" cy="10089642"/>
            </a:xfrm>
            <a:custGeom>
              <a:avLst/>
              <a:gdLst/>
              <a:ahLst/>
              <a:cxnLst/>
              <a:rect l="l" t="t" r="r" b="b"/>
              <a:pathLst>
                <a:path w="4031615" h="10089642">
                  <a:moveTo>
                    <a:pt x="0" y="0"/>
                  </a:moveTo>
                  <a:lnTo>
                    <a:pt x="4031615" y="0"/>
                  </a:lnTo>
                  <a:lnTo>
                    <a:pt x="4031615" y="10089642"/>
                  </a:lnTo>
                  <a:lnTo>
                    <a:pt x="0" y="100896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0386" r="-20386"/>
              </a:stretch>
            </a:blipFill>
          </p:spPr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0" y="5092875"/>
            <a:ext cx="7705963" cy="5194125"/>
            <a:chOff x="0" y="0"/>
            <a:chExt cx="10274618" cy="6925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274681" cy="6925437"/>
            </a:xfrm>
            <a:custGeom>
              <a:avLst/>
              <a:gdLst/>
              <a:ahLst/>
              <a:cxnLst/>
              <a:rect l="l" t="t" r="r" b="b"/>
              <a:pathLst>
                <a:path w="10274681" h="6925437">
                  <a:moveTo>
                    <a:pt x="0" y="0"/>
                  </a:moveTo>
                  <a:lnTo>
                    <a:pt x="10274681" y="0"/>
                  </a:lnTo>
                  <a:lnTo>
                    <a:pt x="10274681" y="6925437"/>
                  </a:lnTo>
                  <a:lnTo>
                    <a:pt x="0" y="69254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9914" r="-9913"/>
              </a:stretch>
            </a:blipFill>
          </p:spPr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3915200" y="4741725"/>
            <a:ext cx="4387014" cy="5545276"/>
            <a:chOff x="0" y="0"/>
            <a:chExt cx="5849352" cy="739370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849366" cy="7393686"/>
            </a:xfrm>
            <a:custGeom>
              <a:avLst/>
              <a:gdLst/>
              <a:ahLst/>
              <a:cxnLst/>
              <a:rect l="l" t="t" r="r" b="b"/>
              <a:pathLst>
                <a:path w="5849366" h="7393686">
                  <a:moveTo>
                    <a:pt x="0" y="0"/>
                  </a:moveTo>
                  <a:lnTo>
                    <a:pt x="5849366" y="0"/>
                  </a:lnTo>
                  <a:lnTo>
                    <a:pt x="5849366" y="7393686"/>
                  </a:lnTo>
                  <a:lnTo>
                    <a:pt x="0" y="7393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2741" b="-2741"/>
              </a:stretch>
            </a:blipFill>
          </p:spPr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0057575" y="5143512"/>
            <a:ext cx="3857625" cy="5143470"/>
            <a:chOff x="0" y="0"/>
            <a:chExt cx="5143500" cy="68579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143500" cy="6858000"/>
            </a:xfrm>
            <a:custGeom>
              <a:avLst/>
              <a:gdLst/>
              <a:ahLst/>
              <a:cxnLst/>
              <a:rect l="l" t="t" r="r" b="b"/>
              <a:pathLst>
                <a:path w="5143500" h="6858000">
                  <a:moveTo>
                    <a:pt x="0" y="0"/>
                  </a:moveTo>
                  <a:lnTo>
                    <a:pt x="5143500" y="0"/>
                  </a:lnTo>
                  <a:lnTo>
                    <a:pt x="51435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6199950" y="3429012"/>
            <a:ext cx="3857625" cy="6857988"/>
            <a:chOff x="0" y="0"/>
            <a:chExt cx="5143500" cy="914398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143500" cy="9144000"/>
            </a:xfrm>
            <a:custGeom>
              <a:avLst/>
              <a:gdLst/>
              <a:ahLst/>
              <a:cxnLst/>
              <a:rect l="l" t="t" r="r" b="b"/>
              <a:pathLst>
                <a:path w="5143500" h="9144000">
                  <a:moveTo>
                    <a:pt x="0" y="0"/>
                  </a:moveTo>
                  <a:lnTo>
                    <a:pt x="5143500" y="0"/>
                  </a:lnTo>
                  <a:lnTo>
                    <a:pt x="51435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18062" y="1768251"/>
            <a:ext cx="8025969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8000" b="1" u="none">
                <a:solidFill>
                  <a:srgbClr val="0F3849"/>
                </a:solidFill>
                <a:latin typeface="Gotham Bold"/>
                <a:ea typeface="Gotham Bold"/>
                <a:cs typeface="Gotham Bold"/>
                <a:sym typeface="Gotham Bold"/>
              </a:rPr>
              <a:t>¡Gracias!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18062" y="3054171"/>
            <a:ext cx="8025969" cy="2152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i="1">
                <a:solidFill>
                  <a:srgbClr val="0F3849"/>
                </a:solidFill>
                <a:latin typeface="Gotham Italics"/>
                <a:ea typeface="Gotham Italics"/>
                <a:cs typeface="Gotham Italics"/>
                <a:sym typeface="Gotham Italics"/>
              </a:rPr>
              <a:t>“Aunque nadie ha podido regresar atrás y hacer un nuevo comienzo, cualquiera puede recomenzar ahora y hacer un nuevo final”</a:t>
            </a:r>
          </a:p>
          <a:p>
            <a:pPr marL="0" lvl="0" indent="0" algn="l">
              <a:lnSpc>
                <a:spcPts val="7000"/>
              </a:lnSpc>
            </a:pPr>
            <a:endParaRPr lang="en-US" sz="2500" i="1">
              <a:solidFill>
                <a:srgbClr val="0F3849"/>
              </a:solidFill>
              <a:latin typeface="Gotham Italics"/>
              <a:ea typeface="Gotham Italics"/>
              <a:cs typeface="Gotham Italics"/>
              <a:sym typeface="Gotham Italics"/>
            </a:endParaRPr>
          </a:p>
        </p:txBody>
      </p:sp>
      <p:sp>
        <p:nvSpPr>
          <p:cNvPr id="4" name="Freeform 4"/>
          <p:cNvSpPr/>
          <p:nvPr/>
        </p:nvSpPr>
        <p:spPr>
          <a:xfrm rot="-1334154">
            <a:off x="11090167" y="2491960"/>
            <a:ext cx="12610984" cy="8804760"/>
          </a:xfrm>
          <a:custGeom>
            <a:avLst/>
            <a:gdLst/>
            <a:ahLst/>
            <a:cxnLst/>
            <a:rect l="l" t="t" r="r" b="b"/>
            <a:pathLst>
              <a:path w="12610984" h="8804760">
                <a:moveTo>
                  <a:pt x="0" y="0"/>
                </a:moveTo>
                <a:lnTo>
                  <a:pt x="12610985" y="0"/>
                </a:lnTo>
                <a:lnTo>
                  <a:pt x="12610985" y="8804760"/>
                </a:lnTo>
                <a:lnTo>
                  <a:pt x="0" y="88047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027011" y="2827417"/>
            <a:ext cx="6450838" cy="5231044"/>
          </a:xfrm>
          <a:custGeom>
            <a:avLst/>
            <a:gdLst/>
            <a:ahLst/>
            <a:cxnLst/>
            <a:rect l="l" t="t" r="r" b="b"/>
            <a:pathLst>
              <a:path w="6450838" h="5231044">
                <a:moveTo>
                  <a:pt x="0" y="0"/>
                </a:moveTo>
                <a:lnTo>
                  <a:pt x="6450838" y="0"/>
                </a:lnTo>
                <a:lnTo>
                  <a:pt x="6450838" y="5231044"/>
                </a:lnTo>
                <a:lnTo>
                  <a:pt x="0" y="52310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FB507FA-ABDE-4B17-BF5E-7F897B41F6C0}"/>
              </a:ext>
            </a:extLst>
          </p:cNvPr>
          <p:cNvSpPr txBox="1"/>
          <p:nvPr/>
        </p:nvSpPr>
        <p:spPr>
          <a:xfrm>
            <a:off x="2286001" y="6896100"/>
            <a:ext cx="4114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Link video presentación: </a:t>
            </a:r>
            <a:r>
              <a:rPr lang="es-ES" dirty="0">
                <a:hlinkClick r:id="rId7"/>
              </a:rPr>
              <a:t>https://www.canva.com/design/DAG6hd4Ex2Q/djFXgvHJOAOPgdbT4wGcwQ/edit?utm_content=DAG6hd4Ex2Q&amp;utm_campaign=designshare&amp;utm_medium=link2&amp;utm_source=sharebutton</a:t>
            </a:r>
            <a:r>
              <a:rPr lang="es-ES" dirty="0"/>
              <a:t> </a:t>
            </a:r>
            <a:endParaRPr lang="es-41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580</Words>
  <Application>Microsoft Office PowerPoint</Application>
  <PresentationFormat>Personalizado</PresentationFormat>
  <Paragraphs>144</Paragraphs>
  <Slides>16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8" baseType="lpstr">
      <vt:lpstr>Fredoka</vt:lpstr>
      <vt:lpstr>Poppins Bold</vt:lpstr>
      <vt:lpstr>Inter</vt:lpstr>
      <vt:lpstr>Montserrat Bold</vt:lpstr>
      <vt:lpstr>Gotham Italics</vt:lpstr>
      <vt:lpstr>Gotham Bold</vt:lpstr>
      <vt:lpstr>Inter Bold</vt:lpstr>
      <vt:lpstr>Gotham</vt:lpstr>
      <vt:lpstr>Arial</vt:lpstr>
      <vt:lpstr>Calibri</vt:lpstr>
      <vt:lpstr>Inter Italics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Transformando el Cuidado.pptx</dc:title>
  <dc:creator>CETECOM</dc:creator>
  <cp:lastModifiedBy>CETECOM</cp:lastModifiedBy>
  <cp:revision>2</cp:revision>
  <dcterms:created xsi:type="dcterms:W3CDTF">2006-08-16T00:00:00Z</dcterms:created>
  <dcterms:modified xsi:type="dcterms:W3CDTF">2025-12-05T15:48:12Z</dcterms:modified>
  <dc:identifier>DAG6hd4Ex2Q</dc:identifier>
</cp:coreProperties>
</file>